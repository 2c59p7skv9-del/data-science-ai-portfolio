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62" r:id="rId2"/>
    <p:sldId id="265" r:id="rId3"/>
    <p:sldId id="261" r:id="rId4"/>
    <p:sldId id="258" r:id="rId5"/>
    <p:sldId id="260" r:id="rId6"/>
    <p:sldId id="264"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61E90C-316E-6E4C-856D-AFADF824FB95}" v="21" dt="2026-06-24T21:53:52.3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938"/>
    <p:restoredTop sz="94641"/>
  </p:normalViewPr>
  <p:slideViewPr>
    <p:cSldViewPr snapToGrid="0">
      <p:cViewPr varScale="1">
        <p:scale>
          <a:sx n="207" d="100"/>
          <a:sy n="207" d="100"/>
        </p:scale>
        <p:origin x="176" y="3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EORGIOS BOUFIS" userId="c8bff13f-86c0-43b4-ace1-70ec58167f31" providerId="ADAL" clId="{4E61E90C-316E-6E4C-856D-AFADF824FB95}"/>
    <pc:docChg chg="undo custSel addSld delSld modSld sldOrd">
      <pc:chgData name="GEORGIOS BOUFIS" userId="c8bff13f-86c0-43b4-ace1-70ec58167f31" providerId="ADAL" clId="{4E61E90C-316E-6E4C-856D-AFADF824FB95}" dt="2026-06-24T22:00:53.801" v="141"/>
      <pc:docMkLst>
        <pc:docMk/>
      </pc:docMkLst>
      <pc:sldChg chg="del ord">
        <pc:chgData name="GEORGIOS BOUFIS" userId="c8bff13f-86c0-43b4-ace1-70ec58167f31" providerId="ADAL" clId="{4E61E90C-316E-6E4C-856D-AFADF824FB95}" dt="2026-06-24T21:42:10.956" v="24" actId="2696"/>
        <pc:sldMkLst>
          <pc:docMk/>
          <pc:sldMk cId="478557089" sldId="256"/>
        </pc:sldMkLst>
      </pc:sldChg>
      <pc:sldChg chg="del">
        <pc:chgData name="GEORGIOS BOUFIS" userId="c8bff13f-86c0-43b4-ace1-70ec58167f31" providerId="ADAL" clId="{4E61E90C-316E-6E4C-856D-AFADF824FB95}" dt="2026-06-23T21:33:30.751" v="0" actId="2696"/>
        <pc:sldMkLst>
          <pc:docMk/>
          <pc:sldMk cId="326250085" sldId="257"/>
        </pc:sldMkLst>
      </pc:sldChg>
      <pc:sldChg chg="modTransition">
        <pc:chgData name="GEORGIOS BOUFIS" userId="c8bff13f-86c0-43b4-ace1-70ec58167f31" providerId="ADAL" clId="{4E61E90C-316E-6E4C-856D-AFADF824FB95}" dt="2026-06-24T22:00:53.801" v="141"/>
        <pc:sldMkLst>
          <pc:docMk/>
          <pc:sldMk cId="93719979" sldId="258"/>
        </pc:sldMkLst>
      </pc:sldChg>
      <pc:sldChg chg="modTransition">
        <pc:chgData name="GEORGIOS BOUFIS" userId="c8bff13f-86c0-43b4-ace1-70ec58167f31" providerId="ADAL" clId="{4E61E90C-316E-6E4C-856D-AFADF824FB95}" dt="2026-06-24T22:00:53.801" v="141"/>
        <pc:sldMkLst>
          <pc:docMk/>
          <pc:sldMk cId="4241653546" sldId="260"/>
        </pc:sldMkLst>
      </pc:sldChg>
      <pc:sldChg chg="modSp mod modTransition">
        <pc:chgData name="GEORGIOS BOUFIS" userId="c8bff13f-86c0-43b4-ace1-70ec58167f31" providerId="ADAL" clId="{4E61E90C-316E-6E4C-856D-AFADF824FB95}" dt="2026-06-24T22:00:53.801" v="141"/>
        <pc:sldMkLst>
          <pc:docMk/>
          <pc:sldMk cId="3879985833" sldId="261"/>
        </pc:sldMkLst>
        <pc:spChg chg="mod">
          <ac:chgData name="GEORGIOS BOUFIS" userId="c8bff13f-86c0-43b4-ace1-70ec58167f31" providerId="ADAL" clId="{4E61E90C-316E-6E4C-856D-AFADF824FB95}" dt="2026-06-24T21:55:19.147" v="139" actId="1076"/>
          <ac:spMkLst>
            <pc:docMk/>
            <pc:sldMk cId="3879985833" sldId="261"/>
            <ac:spMk id="8" creationId="{8515AF81-9188-7C2D-14BD-CF239C46BCE7}"/>
          </ac:spMkLst>
        </pc:spChg>
        <pc:picChg chg="mod">
          <ac:chgData name="GEORGIOS BOUFIS" userId="c8bff13f-86c0-43b4-ace1-70ec58167f31" providerId="ADAL" clId="{4E61E90C-316E-6E4C-856D-AFADF824FB95}" dt="2026-06-24T21:55:13.794" v="137" actId="1076"/>
          <ac:picMkLst>
            <pc:docMk/>
            <pc:sldMk cId="3879985833" sldId="261"/>
            <ac:picMk id="4" creationId="{7048B656-221A-DF56-7585-2FB091B1758F}"/>
          </ac:picMkLst>
        </pc:picChg>
      </pc:sldChg>
      <pc:sldChg chg="addSp delSp modSp new mod modTransition">
        <pc:chgData name="GEORGIOS BOUFIS" userId="c8bff13f-86c0-43b4-ace1-70ec58167f31" providerId="ADAL" clId="{4E61E90C-316E-6E4C-856D-AFADF824FB95}" dt="2026-06-24T22:00:53.801" v="141"/>
        <pc:sldMkLst>
          <pc:docMk/>
          <pc:sldMk cId="2068707391" sldId="262"/>
        </pc:sldMkLst>
        <pc:spChg chg="del mod">
          <ac:chgData name="GEORGIOS BOUFIS" userId="c8bff13f-86c0-43b4-ace1-70ec58167f31" providerId="ADAL" clId="{4E61E90C-316E-6E4C-856D-AFADF824FB95}" dt="2026-06-24T21:39:45.836" v="9" actId="478"/>
          <ac:spMkLst>
            <pc:docMk/>
            <pc:sldMk cId="2068707391" sldId="262"/>
            <ac:spMk id="2" creationId="{F33F3274-A0F3-2C8E-7B59-1A66F621AFAB}"/>
          </ac:spMkLst>
        </pc:spChg>
        <pc:spChg chg="del mod">
          <ac:chgData name="GEORGIOS BOUFIS" userId="c8bff13f-86c0-43b4-ace1-70ec58167f31" providerId="ADAL" clId="{4E61E90C-316E-6E4C-856D-AFADF824FB95}" dt="2026-06-24T21:40:02.860" v="14" actId="478"/>
          <ac:spMkLst>
            <pc:docMk/>
            <pc:sldMk cId="2068707391" sldId="262"/>
            <ac:spMk id="3" creationId="{7C2A4FF5-547F-C9A9-0EB1-3239E806C7E8}"/>
          </ac:spMkLst>
        </pc:spChg>
        <pc:spChg chg="add del mod">
          <ac:chgData name="GEORGIOS BOUFIS" userId="c8bff13f-86c0-43b4-ace1-70ec58167f31" providerId="ADAL" clId="{4E61E90C-316E-6E4C-856D-AFADF824FB95}" dt="2026-06-24T21:39:47.767" v="10" actId="478"/>
          <ac:spMkLst>
            <pc:docMk/>
            <pc:sldMk cId="2068707391" sldId="262"/>
            <ac:spMk id="5" creationId="{B717A692-43F9-F059-B316-69962364A4A1}"/>
          </ac:spMkLst>
        </pc:spChg>
        <pc:spChg chg="add del mod">
          <ac:chgData name="GEORGIOS BOUFIS" userId="c8bff13f-86c0-43b4-ace1-70ec58167f31" providerId="ADAL" clId="{4E61E90C-316E-6E4C-856D-AFADF824FB95}" dt="2026-06-24T21:41:30.712" v="20" actId="478"/>
          <ac:spMkLst>
            <pc:docMk/>
            <pc:sldMk cId="2068707391" sldId="262"/>
            <ac:spMk id="6" creationId="{CDA08FBC-D1CE-1959-0334-A74ABD6B9C9D}"/>
          </ac:spMkLst>
        </pc:spChg>
        <pc:picChg chg="add mod">
          <ac:chgData name="GEORGIOS BOUFIS" userId="c8bff13f-86c0-43b4-ace1-70ec58167f31" providerId="ADAL" clId="{4E61E90C-316E-6E4C-856D-AFADF824FB95}" dt="2026-06-24T21:41:33.710" v="21"/>
          <ac:picMkLst>
            <pc:docMk/>
            <pc:sldMk cId="2068707391" sldId="262"/>
            <ac:picMk id="7" creationId="{F9CFF14F-E8E8-FEF7-07F1-8D3C5867D69A}"/>
          </ac:picMkLst>
        </pc:picChg>
      </pc:sldChg>
      <pc:sldChg chg="delSp add del setBg delDesignElem">
        <pc:chgData name="GEORGIOS BOUFIS" userId="c8bff13f-86c0-43b4-ace1-70ec58167f31" providerId="ADAL" clId="{4E61E90C-316E-6E4C-856D-AFADF824FB95}" dt="2026-06-24T20:59:43.366" v="3" actId="2696"/>
        <pc:sldMkLst>
          <pc:docMk/>
          <pc:sldMk cId="2293201177" sldId="262"/>
        </pc:sldMkLst>
        <pc:spChg chg="del">
          <ac:chgData name="GEORGIOS BOUFIS" userId="c8bff13f-86c0-43b4-ace1-70ec58167f31" providerId="ADAL" clId="{4E61E90C-316E-6E4C-856D-AFADF824FB95}" dt="2026-06-24T20:59:08.067" v="2"/>
          <ac:spMkLst>
            <pc:docMk/>
            <pc:sldMk cId="2293201177" sldId="262"/>
            <ac:spMk id="14" creationId="{8D9CE0F4-2EB2-4F1F-8AAC-DB3571D9FE10}"/>
          </ac:spMkLst>
        </pc:spChg>
        <pc:spChg chg="del">
          <ac:chgData name="GEORGIOS BOUFIS" userId="c8bff13f-86c0-43b4-ace1-70ec58167f31" providerId="ADAL" clId="{4E61E90C-316E-6E4C-856D-AFADF824FB95}" dt="2026-06-24T20:59:08.067" v="2"/>
          <ac:spMkLst>
            <pc:docMk/>
            <pc:sldMk cId="2293201177" sldId="262"/>
            <ac:spMk id="15" creationId="{0B9EE3F3-89B7-43C3-8651-C4C96830993D}"/>
          </ac:spMkLst>
        </pc:spChg>
        <pc:spChg chg="del">
          <ac:chgData name="GEORGIOS BOUFIS" userId="c8bff13f-86c0-43b4-ace1-70ec58167f31" providerId="ADAL" clId="{4E61E90C-316E-6E4C-856D-AFADF824FB95}" dt="2026-06-24T20:59:08.067" v="2"/>
          <ac:spMkLst>
            <pc:docMk/>
            <pc:sldMk cId="2293201177" sldId="262"/>
            <ac:spMk id="16" creationId="{33AE4636-AEEC-45D6-84D4-7AC2DA48ECF8}"/>
          </ac:spMkLst>
        </pc:spChg>
      </pc:sldChg>
      <pc:sldChg chg="addSp delSp modSp new del mod">
        <pc:chgData name="GEORGIOS BOUFIS" userId="c8bff13f-86c0-43b4-ace1-70ec58167f31" providerId="ADAL" clId="{4E61E90C-316E-6E4C-856D-AFADF824FB95}" dt="2026-06-24T21:54:10.951" v="136" actId="2696"/>
        <pc:sldMkLst>
          <pc:docMk/>
          <pc:sldMk cId="1510389224" sldId="263"/>
        </pc:sldMkLst>
        <pc:spChg chg="mod">
          <ac:chgData name="GEORGIOS BOUFIS" userId="c8bff13f-86c0-43b4-ace1-70ec58167f31" providerId="ADAL" clId="{4E61E90C-316E-6E4C-856D-AFADF824FB95}" dt="2026-06-24T21:46:41.582" v="91" actId="20577"/>
          <ac:spMkLst>
            <pc:docMk/>
            <pc:sldMk cId="1510389224" sldId="263"/>
            <ac:spMk id="2" creationId="{D3E39BAB-D788-432F-7C12-B211B6CE93A1}"/>
          </ac:spMkLst>
        </pc:spChg>
        <pc:spChg chg="del mod">
          <ac:chgData name="GEORGIOS BOUFIS" userId="c8bff13f-86c0-43b4-ace1-70ec58167f31" providerId="ADAL" clId="{4E61E90C-316E-6E4C-856D-AFADF824FB95}" dt="2026-06-24T21:47:49.174" v="92" actId="12084"/>
          <ac:spMkLst>
            <pc:docMk/>
            <pc:sldMk cId="1510389224" sldId="263"/>
            <ac:spMk id="3" creationId="{42F4FA6A-E8EA-6CD1-7C27-3C6A99C36B35}"/>
          </ac:spMkLst>
        </pc:spChg>
        <pc:graphicFrameChg chg="add mod">
          <ac:chgData name="GEORGIOS BOUFIS" userId="c8bff13f-86c0-43b4-ace1-70ec58167f31" providerId="ADAL" clId="{4E61E90C-316E-6E4C-856D-AFADF824FB95}" dt="2026-06-24T21:48:11.041" v="97" actId="12269"/>
          <ac:graphicFrameMkLst>
            <pc:docMk/>
            <pc:sldMk cId="1510389224" sldId="263"/>
            <ac:graphicFrameMk id="4" creationId="{FB42395E-7CB4-8485-C34A-5C16BC977DB6}"/>
          </ac:graphicFrameMkLst>
        </pc:graphicFrameChg>
      </pc:sldChg>
      <pc:sldChg chg="addSp delSp modSp new mod modTransition">
        <pc:chgData name="GEORGIOS BOUFIS" userId="c8bff13f-86c0-43b4-ace1-70ec58167f31" providerId="ADAL" clId="{4E61E90C-316E-6E4C-856D-AFADF824FB95}" dt="2026-06-24T22:00:53.801" v="141"/>
        <pc:sldMkLst>
          <pc:docMk/>
          <pc:sldMk cId="1295328864" sldId="264"/>
        </pc:sldMkLst>
        <pc:spChg chg="del">
          <ac:chgData name="GEORGIOS BOUFIS" userId="c8bff13f-86c0-43b4-ace1-70ec58167f31" providerId="ADAL" clId="{4E61E90C-316E-6E4C-856D-AFADF824FB95}" dt="2026-06-24T21:49:14.764" v="99" actId="478"/>
          <ac:spMkLst>
            <pc:docMk/>
            <pc:sldMk cId="1295328864" sldId="264"/>
            <ac:spMk id="2" creationId="{EE2A0C28-69C2-FEBF-E796-5EB964C2DCC9}"/>
          </ac:spMkLst>
        </pc:spChg>
        <pc:spChg chg="del">
          <ac:chgData name="GEORGIOS BOUFIS" userId="c8bff13f-86c0-43b4-ace1-70ec58167f31" providerId="ADAL" clId="{4E61E90C-316E-6E4C-856D-AFADF824FB95}" dt="2026-06-24T21:49:17.202" v="100" actId="478"/>
          <ac:spMkLst>
            <pc:docMk/>
            <pc:sldMk cId="1295328864" sldId="264"/>
            <ac:spMk id="3" creationId="{FE8F5E7B-7124-3C71-B59E-09A15BE516EA}"/>
          </ac:spMkLst>
        </pc:spChg>
        <pc:picChg chg="add mod">
          <ac:chgData name="GEORGIOS BOUFIS" userId="c8bff13f-86c0-43b4-ace1-70ec58167f31" providerId="ADAL" clId="{4E61E90C-316E-6E4C-856D-AFADF824FB95}" dt="2026-06-24T21:49:19.980" v="101"/>
          <ac:picMkLst>
            <pc:docMk/>
            <pc:sldMk cId="1295328864" sldId="264"/>
            <ac:picMk id="4" creationId="{8F6A92A5-78B0-8392-F340-AEEB8B350F79}"/>
          </ac:picMkLst>
        </pc:picChg>
        <pc:picChg chg="add del mod">
          <ac:chgData name="GEORGIOS BOUFIS" userId="c8bff13f-86c0-43b4-ace1-70ec58167f31" providerId="ADAL" clId="{4E61E90C-316E-6E4C-856D-AFADF824FB95}" dt="2026-06-24T21:49:36.070" v="103" actId="478"/>
          <ac:picMkLst>
            <pc:docMk/>
            <pc:sldMk cId="1295328864" sldId="264"/>
            <ac:picMk id="5" creationId="{4F22910B-4ACA-64DB-E81A-3A43A5766B6D}"/>
          </ac:picMkLst>
        </pc:picChg>
      </pc:sldChg>
      <pc:sldChg chg="addSp delSp modSp new mod ord modTransition setBg">
        <pc:chgData name="GEORGIOS BOUFIS" userId="c8bff13f-86c0-43b4-ace1-70ec58167f31" providerId="ADAL" clId="{4E61E90C-316E-6E4C-856D-AFADF824FB95}" dt="2026-06-24T22:00:53.801" v="141"/>
        <pc:sldMkLst>
          <pc:docMk/>
          <pc:sldMk cId="1326170998" sldId="265"/>
        </pc:sldMkLst>
        <pc:spChg chg="del">
          <ac:chgData name="GEORGIOS BOUFIS" userId="c8bff13f-86c0-43b4-ace1-70ec58167f31" providerId="ADAL" clId="{4E61E90C-316E-6E4C-856D-AFADF824FB95}" dt="2026-06-24T21:50:11.027" v="106" actId="26606"/>
          <ac:spMkLst>
            <pc:docMk/>
            <pc:sldMk cId="1326170998" sldId="265"/>
            <ac:spMk id="2" creationId="{9BC09CD8-CD89-A629-1AEC-C4F0DD092897}"/>
          </ac:spMkLst>
        </pc:spChg>
        <pc:spChg chg="del">
          <ac:chgData name="GEORGIOS BOUFIS" userId="c8bff13f-86c0-43b4-ace1-70ec58167f31" providerId="ADAL" clId="{4E61E90C-316E-6E4C-856D-AFADF824FB95}" dt="2026-06-24T21:49:42.911" v="105"/>
          <ac:spMkLst>
            <pc:docMk/>
            <pc:sldMk cId="1326170998" sldId="265"/>
            <ac:spMk id="3" creationId="{1B269AA6-490A-9603-BDAE-A232D7B30B95}"/>
          </ac:spMkLst>
        </pc:spChg>
        <pc:spChg chg="add del mod">
          <ac:chgData name="GEORGIOS BOUFIS" userId="c8bff13f-86c0-43b4-ace1-70ec58167f31" providerId="ADAL" clId="{4E61E90C-316E-6E4C-856D-AFADF824FB95}" dt="2026-06-24T21:51:37.728" v="117" actId="12084"/>
          <ac:spMkLst>
            <pc:docMk/>
            <pc:sldMk cId="1326170998" sldId="265"/>
            <ac:spMk id="6" creationId="{1C129E03-B8C2-320B-7BE0-A1CCB28C4324}"/>
          </ac:spMkLst>
        </pc:spChg>
        <pc:spChg chg="add mod">
          <ac:chgData name="GEORGIOS BOUFIS" userId="c8bff13f-86c0-43b4-ace1-70ec58167f31" providerId="ADAL" clId="{4E61E90C-316E-6E4C-856D-AFADF824FB95}" dt="2026-06-24T21:54:05.005" v="135" actId="14100"/>
          <ac:spMkLst>
            <pc:docMk/>
            <pc:sldMk cId="1326170998" sldId="265"/>
            <ac:spMk id="8" creationId="{A81FE1FB-55E9-EFAB-606E-2B5A62E9F3F3}"/>
          </ac:spMkLst>
        </pc:spChg>
        <pc:spChg chg="add">
          <ac:chgData name="GEORGIOS BOUFIS" userId="c8bff13f-86c0-43b4-ace1-70ec58167f31" providerId="ADAL" clId="{4E61E90C-316E-6E4C-856D-AFADF824FB95}" dt="2026-06-24T21:50:11.027" v="106" actId="26606"/>
          <ac:spMkLst>
            <pc:docMk/>
            <pc:sldMk cId="1326170998" sldId="265"/>
            <ac:spMk id="9" creationId="{C3862298-AF85-4572-BED3-52E573EBD410}"/>
          </ac:spMkLst>
        </pc:spChg>
        <pc:spChg chg="add">
          <ac:chgData name="GEORGIOS BOUFIS" userId="c8bff13f-86c0-43b4-ace1-70ec58167f31" providerId="ADAL" clId="{4E61E90C-316E-6E4C-856D-AFADF824FB95}" dt="2026-06-24T21:50:11.027" v="106" actId="26606"/>
          <ac:spMkLst>
            <pc:docMk/>
            <pc:sldMk cId="1326170998" sldId="265"/>
            <ac:spMk id="11" creationId="{1C897582-CB19-41B5-9426-8BD7BD008256}"/>
          </ac:spMkLst>
        </pc:spChg>
        <pc:spChg chg="add">
          <ac:chgData name="GEORGIOS BOUFIS" userId="c8bff13f-86c0-43b4-ace1-70ec58167f31" providerId="ADAL" clId="{4E61E90C-316E-6E4C-856D-AFADF824FB95}" dt="2026-06-24T21:50:11.027" v="106" actId="26606"/>
          <ac:spMkLst>
            <pc:docMk/>
            <pc:sldMk cId="1326170998" sldId="265"/>
            <ac:spMk id="13" creationId="{0E7066FC-B004-4B5A-B02B-599B51EF3221}"/>
          </ac:spMkLst>
        </pc:spChg>
        <pc:graphicFrameChg chg="add mod modGraphic">
          <ac:chgData name="GEORGIOS BOUFIS" userId="c8bff13f-86c0-43b4-ace1-70ec58167f31" providerId="ADAL" clId="{4E61E90C-316E-6E4C-856D-AFADF824FB95}" dt="2026-06-24T21:53:29.187" v="129" actId="207"/>
          <ac:graphicFrameMkLst>
            <pc:docMk/>
            <pc:sldMk cId="1326170998" sldId="265"/>
            <ac:graphicFrameMk id="7" creationId="{259AD141-2D9E-389D-B5BB-B03656A5E76D}"/>
          </ac:graphicFrameMkLst>
        </pc:graphicFrameChg>
        <pc:picChg chg="add del mod">
          <ac:chgData name="GEORGIOS BOUFIS" userId="c8bff13f-86c0-43b4-ace1-70ec58167f31" providerId="ADAL" clId="{4E61E90C-316E-6E4C-856D-AFADF824FB95}" dt="2026-06-24T21:50:12.745" v="107" actId="478"/>
          <ac:picMkLst>
            <pc:docMk/>
            <pc:sldMk cId="1326170998" sldId="265"/>
            <ac:picMk id="4" creationId="{D1C94A6D-E9E1-EBDB-EB48-728BFCEBF72A}"/>
          </ac:picMkLst>
        </pc:picChg>
      </pc:sldChg>
    </pc:docChg>
  </pc:docChgLst>
</pc:chgInfo>
</file>

<file path=ppt/diagrams/_rels/data1.xml.rels><?xml version="1.0" encoding="UTF-8" standalone="yes"?>
<Relationships xmlns="http://schemas.openxmlformats.org/package/2006/relationships"><Relationship Id="rId1" Type="http://schemas.openxmlformats.org/officeDocument/2006/relationships/hyperlink" Target="https://ec.europa.eu/eurostat/databrowser/view/crim_gen__custom_8205385/default/table?lang=en" TargetMode="External"/></Relationships>
</file>

<file path=ppt/diagrams/_rels/drawing1.xml.rels><?xml version="1.0" encoding="UTF-8" standalone="yes"?>
<Relationships xmlns="http://schemas.openxmlformats.org/package/2006/relationships"><Relationship Id="rId1" Type="http://schemas.openxmlformats.org/officeDocument/2006/relationships/hyperlink" Target="https://ec.europa.eu/eurostat/databrowser/view/crim_gen__custom_8205385/default/table?lang=en" TargetMode="External"/></Relationships>
</file>

<file path=ppt/diagrams/colors1.xml><?xml version="1.0" encoding="utf-8"?>
<dgm:colorsDef xmlns:dgm="http://schemas.openxmlformats.org/drawingml/2006/diagram" xmlns:a="http://schemas.openxmlformats.org/drawingml/2006/main" uniqueId="urn:microsoft.com/office/officeart/2005/8/colors/accent3_4">
  <dgm:title val=""/>
  <dgm:desc val=""/>
  <dgm:catLst>
    <dgm:cat type="accent3" pri="11400"/>
  </dgm:catLst>
  <dgm:styleLbl name="node0">
    <dgm:fillClrLst meth="cycle">
      <a:schemeClr val="accent3">
        <a:shade val="60000"/>
      </a:schemeClr>
    </dgm:fillClrLst>
    <dgm:linClrLst meth="repeat">
      <a:schemeClr val="lt1"/>
    </dgm:linClrLst>
    <dgm:effectClrLst/>
    <dgm:txLinClrLst/>
    <dgm:txFillClrLst/>
    <dgm:txEffectClrLst/>
  </dgm:styleLbl>
  <dgm:styleLbl name="node1">
    <dgm:fillClrLst meth="cycle">
      <a:schemeClr val="accent3">
        <a:shade val="50000"/>
      </a:schemeClr>
      <a:schemeClr val="accent3">
        <a:tint val="55000"/>
      </a:schemeClr>
    </dgm:fillClrLst>
    <dgm:linClrLst meth="repeat">
      <a:schemeClr val="lt1"/>
    </dgm:linClrLst>
    <dgm:effectClrLst/>
    <dgm:txLinClrLst/>
    <dgm:txFillClrLst/>
    <dgm:txEffectClrLst/>
  </dgm:styleLbl>
  <dgm:styleLbl name="alignNode1">
    <dgm:fillClrLst meth="cycle">
      <a:schemeClr val="accent3">
        <a:shade val="50000"/>
      </a:schemeClr>
      <a:schemeClr val="accent3">
        <a:tint val="55000"/>
      </a:schemeClr>
    </dgm:fillClrLst>
    <dgm:linClrLst meth="cycle">
      <a:schemeClr val="accent3">
        <a:shade val="50000"/>
      </a:schemeClr>
      <a:schemeClr val="accent3">
        <a:tint val="55000"/>
      </a:schemeClr>
    </dgm:linClrLst>
    <dgm:effectClrLst/>
    <dgm:txLinClrLst/>
    <dgm:txFillClrLst/>
    <dgm:txEffectClrLst/>
  </dgm:styleLbl>
  <dgm:styleLbl name="lnNode1">
    <dgm:fillClrLst meth="cycle">
      <a:schemeClr val="accent3">
        <a:shade val="50000"/>
      </a:schemeClr>
      <a:schemeClr val="accent3">
        <a:tint val="55000"/>
      </a:schemeClr>
    </dgm:fillClrLst>
    <dgm:linClrLst meth="repeat">
      <a:schemeClr val="lt1"/>
    </dgm:linClrLst>
    <dgm:effectClrLst/>
    <dgm:txLinClrLst/>
    <dgm:txFillClrLst/>
    <dgm:txEffectClrLst/>
  </dgm:styleLbl>
  <dgm:styleLbl name="vennNode1">
    <dgm:fillClrLst meth="cycle">
      <a:schemeClr val="accent3">
        <a:shade val="80000"/>
        <a:alpha val="50000"/>
      </a:schemeClr>
      <a:schemeClr val="accent3">
        <a:tint val="50000"/>
        <a:alpha val="50000"/>
      </a:schemeClr>
    </dgm:fillClrLst>
    <dgm:linClrLst meth="repeat">
      <a:schemeClr val="lt1"/>
    </dgm:linClrLst>
    <dgm:effectClrLst/>
    <dgm:txLinClrLst/>
    <dgm:txFillClrLst/>
    <dgm:txEffectClrLst/>
  </dgm:styleLbl>
  <dgm:styleLbl name="node2">
    <dgm:fillClrLst>
      <a:schemeClr val="accent3">
        <a:shade val="80000"/>
      </a:schemeClr>
    </dgm:fillClrLst>
    <dgm:linClrLst meth="repeat">
      <a:schemeClr val="lt1"/>
    </dgm:linClrLst>
    <dgm:effectClrLst/>
    <dgm:txLinClrLst/>
    <dgm:txFillClrLst/>
    <dgm:txEffectClrLst/>
  </dgm:styleLbl>
  <dgm:styleLbl name="node3">
    <dgm:fillClrLst>
      <a:schemeClr val="accent3">
        <a:tint val="99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fg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bg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sibTrans1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0000"/>
      </a:schemeClr>
    </dgm:fillClrLst>
    <dgm:linClrLst meth="repeat">
      <a:schemeClr val="lt1"/>
    </dgm:linClrLst>
    <dgm:effectClrLst/>
    <dgm:txLinClrLst/>
    <dgm:txFillClrLst/>
    <dgm:txEffectClrLst/>
  </dgm:styleLbl>
  <dgm:styleLbl name="asst3">
    <dgm:fillClrLst>
      <a:schemeClr val="accent3">
        <a:tint val="70000"/>
      </a:schemeClr>
    </dgm:fillClrLst>
    <dgm:linClrLst meth="repeat">
      <a:schemeClr val="lt1"/>
    </dgm:linClrLst>
    <dgm:effectClrLst/>
    <dgm:txLinClrLst/>
    <dgm:txFillClrLst/>
    <dgm:txEffectClrLst/>
  </dgm:styleLbl>
  <dgm:styleLbl name="asst4">
    <dgm:fillClrLst>
      <a:schemeClr val="accent3">
        <a:tint val="5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shade val="80000"/>
      </a:schemeClr>
    </dgm:linClrLst>
    <dgm:effectClrLst/>
    <dgm:txLinClrLst/>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dk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3">
        <a:tint val="90000"/>
      </a:schemeClr>
    </dgm:linClrLst>
    <dgm:effectClrLst/>
    <dgm:txLinClrLst/>
    <dgm:txFillClrLst meth="repeat">
      <a:schemeClr val="tx1"/>
    </dgm:txFillClrLst>
    <dgm:txEffectClrLst/>
  </dgm:styleLbl>
  <dgm:styleLbl name="parChTrans1D3">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1D4">
    <dgm:fillClrLst meth="repeat">
      <a:schemeClr val="accent3">
        <a:tint val="50000"/>
      </a:schemeClr>
    </dgm:fillClrLst>
    <dgm:linClrLst meth="repeat">
      <a:schemeClr val="accent3">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55000"/>
      </a:schemeClr>
    </dgm:fillClrLst>
    <dgm:linClrLst meth="repeat">
      <a:schemeClr val="accent3">
        <a:alpha val="90000"/>
        <a:tint val="55000"/>
      </a:schemeClr>
    </dgm:linClrLst>
    <dgm:effectClrLst/>
    <dgm:txLinClrLst/>
    <dgm:txFillClrLst meth="repeat">
      <a:schemeClr val="dk1"/>
    </dgm:txFillClrLst>
    <dgm:txEffectClrLst/>
  </dgm:styleLbl>
  <dgm:styleLbl name="alignAccFollowNode1">
    <dgm:fillClrLst meth="repeat">
      <a:schemeClr val="accent3">
        <a:alpha val="90000"/>
        <a:tint val="55000"/>
      </a:schemeClr>
    </dgm:fillClrLst>
    <dgm:linClrLst meth="repeat">
      <a:schemeClr val="accent3">
        <a:alpha val="90000"/>
        <a:tint val="55000"/>
      </a:schemeClr>
    </dgm:linClrLst>
    <dgm:effectClrLst/>
    <dgm:txLinClrLst/>
    <dgm:txFillClrLst meth="repeat">
      <a:schemeClr val="dk1"/>
    </dgm:txFillClrLst>
    <dgm:txEffectClrLst/>
  </dgm:styleLbl>
  <dgm:styleLbl name="bgAccFollowNode1">
    <dgm:fillClrLst meth="repeat">
      <a:schemeClr val="accent3">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50000"/>
      </a:schemeClr>
    </dgm:linClrLst>
    <dgm:effectClrLst/>
    <dgm:txLinClrLst/>
    <dgm:txFillClrLst meth="repeat">
      <a:schemeClr val="dk1"/>
    </dgm:txFillClrLst>
    <dgm:txEffectClrLst/>
  </dgm:styleLbl>
  <dgm:styleLbl name="bgShp">
    <dgm:fillClrLst meth="repeat">
      <a:schemeClr val="accent3">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55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3CC2FE3-6F97-4F40-A0B9-4D77311FFDD5}" type="doc">
      <dgm:prSet loTypeId="urn:microsoft.com/office/officeart/2005/8/layout/vList2" loCatId="list" qsTypeId="urn:microsoft.com/office/officeart/2005/8/quickstyle/3d1" qsCatId="3D" csTypeId="urn:microsoft.com/office/officeart/2005/8/colors/accent3_4" csCatId="accent3"/>
      <dgm:spPr/>
      <dgm:t>
        <a:bodyPr/>
        <a:lstStyle/>
        <a:p>
          <a:endParaRPr lang="en-US"/>
        </a:p>
      </dgm:t>
    </dgm:pt>
    <dgm:pt modelId="{6BC57950-BDB1-5542-B121-38DF7288BCEE}">
      <dgm:prSet/>
      <dgm:spPr/>
      <dgm:t>
        <a:bodyPr/>
        <a:lstStyle/>
        <a:p>
          <a:r>
            <a:rPr lang="en-US" dirty="0"/>
            <a:t>This project examines whether recorded crime rates in Greece increased or decreased between 1993 and 2007.</a:t>
          </a:r>
        </a:p>
      </dgm:t>
    </dgm:pt>
    <dgm:pt modelId="{976FCD8A-55EC-3345-A7A4-CA9A4D297B1A}" type="parTrans" cxnId="{6F0E7002-5CC0-1F40-A543-28949E2DCC6D}">
      <dgm:prSet/>
      <dgm:spPr/>
      <dgm:t>
        <a:bodyPr/>
        <a:lstStyle/>
        <a:p>
          <a:endParaRPr lang="en-US"/>
        </a:p>
      </dgm:t>
    </dgm:pt>
    <dgm:pt modelId="{DD6C2437-8886-8340-AAD2-D935C50872F0}" type="sibTrans" cxnId="{6F0E7002-5CC0-1F40-A543-28949E2DCC6D}">
      <dgm:prSet/>
      <dgm:spPr/>
      <dgm:t>
        <a:bodyPr/>
        <a:lstStyle/>
        <a:p>
          <a:endParaRPr lang="en-US"/>
        </a:p>
      </dgm:t>
    </dgm:pt>
    <dgm:pt modelId="{A0DAF4A6-A6AD-844D-B8FE-F2F54D7B4204}">
      <dgm:prSet/>
      <dgm:spPr/>
      <dgm:t>
        <a:bodyPr/>
        <a:lstStyle/>
        <a:p>
          <a:r>
            <a:rPr lang="en-US"/>
            <a:t>Greece’s pattern is compared with the rest of Europe using crime rates per 100,000 inhabitants.</a:t>
          </a:r>
        </a:p>
      </dgm:t>
    </dgm:pt>
    <dgm:pt modelId="{2FA89998-5006-204D-B65B-B6DAADA4C208}" type="parTrans" cxnId="{D2237D48-FA79-8541-B035-E92CE13F7237}">
      <dgm:prSet/>
      <dgm:spPr/>
      <dgm:t>
        <a:bodyPr/>
        <a:lstStyle/>
        <a:p>
          <a:endParaRPr lang="en-US"/>
        </a:p>
      </dgm:t>
    </dgm:pt>
    <dgm:pt modelId="{238D0113-2AC5-B54F-8D0C-C7F7D59A1FC3}" type="sibTrans" cxnId="{D2237D48-FA79-8541-B035-E92CE13F7237}">
      <dgm:prSet/>
      <dgm:spPr/>
      <dgm:t>
        <a:bodyPr/>
        <a:lstStyle/>
        <a:p>
          <a:endParaRPr lang="en-US"/>
        </a:p>
      </dgm:t>
    </dgm:pt>
    <dgm:pt modelId="{B916CDCF-C122-CE49-B04A-C1B653EB15A3}">
      <dgm:prSet/>
      <dgm:spPr/>
      <dgm:t>
        <a:bodyPr/>
        <a:lstStyle/>
        <a:p>
          <a:r>
            <a:rPr lang="en-US" dirty="0"/>
            <a:t>The crime data was downloaded from </a:t>
          </a:r>
          <a:r>
            <a:rPr lang="en-US" dirty="0">
              <a:solidFill>
                <a:schemeClr val="tx2">
                  <a:lumMod val="75000"/>
                  <a:lumOff val="25000"/>
                </a:schemeClr>
              </a:solidFill>
              <a:hlinkClick xmlns:r="http://schemas.openxmlformats.org/officeDocument/2006/relationships" r:id="rId1">
                <a:extLst>
                  <a:ext uri="{A12FA001-AC4F-418D-AE19-62706E023703}">
                    <ahyp:hlinkClr xmlns:ahyp="http://schemas.microsoft.com/office/drawing/2018/hyperlinkcolor" val="tx"/>
                  </a:ext>
                </a:extLst>
              </a:hlinkClick>
            </a:rPr>
            <a:t>Eurostat</a:t>
          </a:r>
          <a:r>
            <a:rPr lang="en-US" dirty="0"/>
            <a:t>, and the interactive visualizations were created using Tableau.</a:t>
          </a:r>
        </a:p>
      </dgm:t>
    </dgm:pt>
    <dgm:pt modelId="{F2454BDE-6A15-604B-9E45-004221ED64B8}" type="parTrans" cxnId="{543658E7-C20F-394D-BD3F-581E1069B0BC}">
      <dgm:prSet/>
      <dgm:spPr/>
      <dgm:t>
        <a:bodyPr/>
        <a:lstStyle/>
        <a:p>
          <a:endParaRPr lang="en-US"/>
        </a:p>
      </dgm:t>
    </dgm:pt>
    <dgm:pt modelId="{58477992-0652-CA46-9D24-BF79A9B54470}" type="sibTrans" cxnId="{543658E7-C20F-394D-BD3F-581E1069B0BC}">
      <dgm:prSet/>
      <dgm:spPr/>
      <dgm:t>
        <a:bodyPr/>
        <a:lstStyle/>
        <a:p>
          <a:endParaRPr lang="en-US"/>
        </a:p>
      </dgm:t>
    </dgm:pt>
    <dgm:pt modelId="{AAAAEA50-23D6-2D49-B8CF-8606080307C8}" type="pres">
      <dgm:prSet presAssocID="{53CC2FE3-6F97-4F40-A0B9-4D77311FFDD5}" presName="linear" presStyleCnt="0">
        <dgm:presLayoutVars>
          <dgm:animLvl val="lvl"/>
          <dgm:resizeHandles val="exact"/>
        </dgm:presLayoutVars>
      </dgm:prSet>
      <dgm:spPr/>
    </dgm:pt>
    <dgm:pt modelId="{CF126D90-9CE6-124F-843B-D6F970EDBF6F}" type="pres">
      <dgm:prSet presAssocID="{6BC57950-BDB1-5542-B121-38DF7288BCEE}" presName="parentText" presStyleLbl="node1" presStyleIdx="0" presStyleCnt="3">
        <dgm:presLayoutVars>
          <dgm:chMax val="0"/>
          <dgm:bulletEnabled val="1"/>
        </dgm:presLayoutVars>
      </dgm:prSet>
      <dgm:spPr/>
    </dgm:pt>
    <dgm:pt modelId="{A7F7C56C-7F5F-CF48-BA99-007C6164227F}" type="pres">
      <dgm:prSet presAssocID="{DD6C2437-8886-8340-AAD2-D935C50872F0}" presName="spacer" presStyleCnt="0"/>
      <dgm:spPr/>
    </dgm:pt>
    <dgm:pt modelId="{31983F30-0A09-4D48-96F8-44EF29BE6EE0}" type="pres">
      <dgm:prSet presAssocID="{A0DAF4A6-A6AD-844D-B8FE-F2F54D7B4204}" presName="parentText" presStyleLbl="node1" presStyleIdx="1" presStyleCnt="3">
        <dgm:presLayoutVars>
          <dgm:chMax val="0"/>
          <dgm:bulletEnabled val="1"/>
        </dgm:presLayoutVars>
      </dgm:prSet>
      <dgm:spPr/>
    </dgm:pt>
    <dgm:pt modelId="{86E56347-6ABA-EB47-9CEB-18ADC3CE502E}" type="pres">
      <dgm:prSet presAssocID="{238D0113-2AC5-B54F-8D0C-C7F7D59A1FC3}" presName="spacer" presStyleCnt="0"/>
      <dgm:spPr/>
    </dgm:pt>
    <dgm:pt modelId="{87FA2DF2-9739-264C-8D24-DDD423A28389}" type="pres">
      <dgm:prSet presAssocID="{B916CDCF-C122-CE49-B04A-C1B653EB15A3}" presName="parentText" presStyleLbl="node1" presStyleIdx="2" presStyleCnt="3">
        <dgm:presLayoutVars>
          <dgm:chMax val="0"/>
          <dgm:bulletEnabled val="1"/>
        </dgm:presLayoutVars>
      </dgm:prSet>
      <dgm:spPr/>
    </dgm:pt>
  </dgm:ptLst>
  <dgm:cxnLst>
    <dgm:cxn modelId="{6F0E7002-5CC0-1F40-A543-28949E2DCC6D}" srcId="{53CC2FE3-6F97-4F40-A0B9-4D77311FFDD5}" destId="{6BC57950-BDB1-5542-B121-38DF7288BCEE}" srcOrd="0" destOrd="0" parTransId="{976FCD8A-55EC-3345-A7A4-CA9A4D297B1A}" sibTransId="{DD6C2437-8886-8340-AAD2-D935C50872F0}"/>
    <dgm:cxn modelId="{53D75213-22B4-6448-935B-994F392742E5}" type="presOf" srcId="{53CC2FE3-6F97-4F40-A0B9-4D77311FFDD5}" destId="{AAAAEA50-23D6-2D49-B8CF-8606080307C8}" srcOrd="0" destOrd="0" presId="urn:microsoft.com/office/officeart/2005/8/layout/vList2"/>
    <dgm:cxn modelId="{D2237D48-FA79-8541-B035-E92CE13F7237}" srcId="{53CC2FE3-6F97-4F40-A0B9-4D77311FFDD5}" destId="{A0DAF4A6-A6AD-844D-B8FE-F2F54D7B4204}" srcOrd="1" destOrd="0" parTransId="{2FA89998-5006-204D-B65B-B6DAADA4C208}" sibTransId="{238D0113-2AC5-B54F-8D0C-C7F7D59A1FC3}"/>
    <dgm:cxn modelId="{BE3F826D-43E9-174F-AD8B-A07BBA8F5561}" type="presOf" srcId="{6BC57950-BDB1-5542-B121-38DF7288BCEE}" destId="{CF126D90-9CE6-124F-843B-D6F970EDBF6F}" srcOrd="0" destOrd="0" presId="urn:microsoft.com/office/officeart/2005/8/layout/vList2"/>
    <dgm:cxn modelId="{DE2E0D75-29CE-9B4A-9EEC-B2AB46E96170}" type="presOf" srcId="{A0DAF4A6-A6AD-844D-B8FE-F2F54D7B4204}" destId="{31983F30-0A09-4D48-96F8-44EF29BE6EE0}" srcOrd="0" destOrd="0" presId="urn:microsoft.com/office/officeart/2005/8/layout/vList2"/>
    <dgm:cxn modelId="{EDB367BA-2577-004C-8979-23C5DF26143D}" type="presOf" srcId="{B916CDCF-C122-CE49-B04A-C1B653EB15A3}" destId="{87FA2DF2-9739-264C-8D24-DDD423A28389}" srcOrd="0" destOrd="0" presId="urn:microsoft.com/office/officeart/2005/8/layout/vList2"/>
    <dgm:cxn modelId="{543658E7-C20F-394D-BD3F-581E1069B0BC}" srcId="{53CC2FE3-6F97-4F40-A0B9-4D77311FFDD5}" destId="{B916CDCF-C122-CE49-B04A-C1B653EB15A3}" srcOrd="2" destOrd="0" parTransId="{F2454BDE-6A15-604B-9E45-004221ED64B8}" sibTransId="{58477992-0652-CA46-9D24-BF79A9B54470}"/>
    <dgm:cxn modelId="{E434BD55-5DA1-EA4E-BF5B-BCC283E5D2EC}" type="presParOf" srcId="{AAAAEA50-23D6-2D49-B8CF-8606080307C8}" destId="{CF126D90-9CE6-124F-843B-D6F970EDBF6F}" srcOrd="0" destOrd="0" presId="urn:microsoft.com/office/officeart/2005/8/layout/vList2"/>
    <dgm:cxn modelId="{BC4D8006-B6F9-D846-8C55-E82219F59A07}" type="presParOf" srcId="{AAAAEA50-23D6-2D49-B8CF-8606080307C8}" destId="{A7F7C56C-7F5F-CF48-BA99-007C6164227F}" srcOrd="1" destOrd="0" presId="urn:microsoft.com/office/officeart/2005/8/layout/vList2"/>
    <dgm:cxn modelId="{B9612709-5F92-674F-A58D-C04BD97B69AE}" type="presParOf" srcId="{AAAAEA50-23D6-2D49-B8CF-8606080307C8}" destId="{31983F30-0A09-4D48-96F8-44EF29BE6EE0}" srcOrd="2" destOrd="0" presId="urn:microsoft.com/office/officeart/2005/8/layout/vList2"/>
    <dgm:cxn modelId="{B4D18D3E-0848-B64D-B8A4-5B7AAFF4B3F4}" type="presParOf" srcId="{AAAAEA50-23D6-2D49-B8CF-8606080307C8}" destId="{86E56347-6ABA-EB47-9CEB-18ADC3CE502E}" srcOrd="3" destOrd="0" presId="urn:microsoft.com/office/officeart/2005/8/layout/vList2"/>
    <dgm:cxn modelId="{810D8488-41A3-444D-86D4-DD359071877F}" type="presParOf" srcId="{AAAAEA50-23D6-2D49-B8CF-8606080307C8}" destId="{87FA2DF2-9739-264C-8D24-DDD423A28389}"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126D90-9CE6-124F-843B-D6F970EDBF6F}">
      <dsp:nvSpPr>
        <dsp:cNvPr id="0" name=""/>
        <dsp:cNvSpPr/>
      </dsp:nvSpPr>
      <dsp:spPr>
        <a:xfrm>
          <a:off x="0" y="297638"/>
          <a:ext cx="5376447" cy="1209780"/>
        </a:xfrm>
        <a:prstGeom prst="roundRect">
          <a:avLst/>
        </a:prstGeom>
        <a:gradFill rotWithShape="0">
          <a:gsLst>
            <a:gs pos="0">
              <a:schemeClr val="accent3">
                <a:shade val="50000"/>
                <a:hueOff val="0"/>
                <a:satOff val="0"/>
                <a:lumOff val="0"/>
                <a:alphaOff val="0"/>
                <a:satMod val="103000"/>
                <a:lumMod val="102000"/>
                <a:tint val="94000"/>
              </a:schemeClr>
            </a:gs>
            <a:gs pos="50000">
              <a:schemeClr val="accent3">
                <a:shade val="50000"/>
                <a:hueOff val="0"/>
                <a:satOff val="0"/>
                <a:lumOff val="0"/>
                <a:alphaOff val="0"/>
                <a:satMod val="110000"/>
                <a:lumMod val="100000"/>
                <a:shade val="100000"/>
              </a:schemeClr>
            </a:gs>
            <a:gs pos="100000">
              <a:schemeClr val="accent3">
                <a:shade val="50000"/>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This project examines whether recorded crime rates in Greece increased or decreased between 1993 and 2007.</a:t>
          </a:r>
        </a:p>
      </dsp:txBody>
      <dsp:txXfrm>
        <a:off x="59057" y="356695"/>
        <a:ext cx="5258333" cy="1091666"/>
      </dsp:txXfrm>
    </dsp:sp>
    <dsp:sp modelId="{31983F30-0A09-4D48-96F8-44EF29BE6EE0}">
      <dsp:nvSpPr>
        <dsp:cNvPr id="0" name=""/>
        <dsp:cNvSpPr/>
      </dsp:nvSpPr>
      <dsp:spPr>
        <a:xfrm>
          <a:off x="0" y="1570778"/>
          <a:ext cx="5376447" cy="1209780"/>
        </a:xfrm>
        <a:prstGeom prst="roundRect">
          <a:avLst/>
        </a:prstGeom>
        <a:gradFill rotWithShape="0">
          <a:gsLst>
            <a:gs pos="0">
              <a:schemeClr val="accent3">
                <a:shade val="50000"/>
                <a:hueOff val="-177661"/>
                <a:satOff val="-38386"/>
                <a:lumOff val="36676"/>
                <a:alphaOff val="0"/>
                <a:satMod val="103000"/>
                <a:lumMod val="102000"/>
                <a:tint val="94000"/>
              </a:schemeClr>
            </a:gs>
            <a:gs pos="50000">
              <a:schemeClr val="accent3">
                <a:shade val="50000"/>
                <a:hueOff val="-177661"/>
                <a:satOff val="-38386"/>
                <a:lumOff val="36676"/>
                <a:alphaOff val="0"/>
                <a:satMod val="110000"/>
                <a:lumMod val="100000"/>
                <a:shade val="100000"/>
              </a:schemeClr>
            </a:gs>
            <a:gs pos="100000">
              <a:schemeClr val="accent3">
                <a:shade val="50000"/>
                <a:hueOff val="-177661"/>
                <a:satOff val="-38386"/>
                <a:lumOff val="36676"/>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Greece’s pattern is compared with the rest of Europe using crime rates per 100,000 inhabitants.</a:t>
          </a:r>
        </a:p>
      </dsp:txBody>
      <dsp:txXfrm>
        <a:off x="59057" y="1629835"/>
        <a:ext cx="5258333" cy="1091666"/>
      </dsp:txXfrm>
    </dsp:sp>
    <dsp:sp modelId="{87FA2DF2-9739-264C-8D24-DDD423A28389}">
      <dsp:nvSpPr>
        <dsp:cNvPr id="0" name=""/>
        <dsp:cNvSpPr/>
      </dsp:nvSpPr>
      <dsp:spPr>
        <a:xfrm>
          <a:off x="0" y="2843919"/>
          <a:ext cx="5376447" cy="1209780"/>
        </a:xfrm>
        <a:prstGeom prst="roundRect">
          <a:avLst/>
        </a:prstGeom>
        <a:gradFill rotWithShape="0">
          <a:gsLst>
            <a:gs pos="0">
              <a:schemeClr val="accent3">
                <a:shade val="50000"/>
                <a:hueOff val="-177661"/>
                <a:satOff val="-38386"/>
                <a:lumOff val="36676"/>
                <a:alphaOff val="0"/>
                <a:satMod val="103000"/>
                <a:lumMod val="102000"/>
                <a:tint val="94000"/>
              </a:schemeClr>
            </a:gs>
            <a:gs pos="50000">
              <a:schemeClr val="accent3">
                <a:shade val="50000"/>
                <a:hueOff val="-177661"/>
                <a:satOff val="-38386"/>
                <a:lumOff val="36676"/>
                <a:alphaOff val="0"/>
                <a:satMod val="110000"/>
                <a:lumMod val="100000"/>
                <a:shade val="100000"/>
              </a:schemeClr>
            </a:gs>
            <a:gs pos="100000">
              <a:schemeClr val="accent3">
                <a:shade val="50000"/>
                <a:hueOff val="-177661"/>
                <a:satOff val="-38386"/>
                <a:lumOff val="36676"/>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The crime data was downloaded from </a:t>
          </a:r>
          <a:r>
            <a:rPr lang="en-US" sz="2200" kern="1200" dirty="0">
              <a:solidFill>
                <a:schemeClr val="tx2">
                  <a:lumMod val="75000"/>
                  <a:lumOff val="25000"/>
                </a:schemeClr>
              </a:solidFill>
              <a:hlinkClick xmlns:r="http://schemas.openxmlformats.org/officeDocument/2006/relationships" r:id="rId1">
                <a:extLst>
                  <a:ext uri="{A12FA001-AC4F-418D-AE19-62706E023703}">
                    <ahyp:hlinkClr xmlns:ahyp="http://schemas.microsoft.com/office/drawing/2018/hyperlinkcolor" val="tx"/>
                  </a:ext>
                </a:extLst>
              </a:hlinkClick>
            </a:rPr>
            <a:t>Eurostat</a:t>
          </a:r>
          <a:r>
            <a:rPr lang="en-US" sz="2200" kern="1200" dirty="0"/>
            <a:t>, and the interactive visualizations were created using Tableau.</a:t>
          </a:r>
        </a:p>
      </dsp:txBody>
      <dsp:txXfrm>
        <a:off x="59057" y="2902976"/>
        <a:ext cx="5258333" cy="109166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E8443A-2A9B-F141-8D0C-59C8C20BB136}" type="datetimeFigureOut">
              <a:rPr lang="en-US" smtClean="0"/>
              <a:t>6/23/26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819B57-649A-CB4E-9D3C-0C333B955447}" type="slidenum">
              <a:rPr lang="en-US" smtClean="0"/>
              <a:t>‹#›</a:t>
            </a:fld>
            <a:endParaRPr lang="en-US"/>
          </a:p>
        </p:txBody>
      </p:sp>
    </p:spTree>
    <p:extLst>
      <p:ext uri="{BB962C8B-B14F-4D97-AF65-F5344CB8AC3E}">
        <p14:creationId xmlns:p14="http://schemas.microsoft.com/office/powerpoint/2010/main" val="9748563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F17AD-B019-129D-AA14-C0D4EF1D29D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149AF78-6EA4-B4EF-BECB-43743A68A9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51AE8EA-74ED-BA0D-DF0C-62AEE4D56D0D}"/>
              </a:ext>
            </a:extLst>
          </p:cNvPr>
          <p:cNvSpPr>
            <a:spLocks noGrp="1"/>
          </p:cNvSpPr>
          <p:nvPr>
            <p:ph type="dt" sz="half" idx="10"/>
          </p:nvPr>
        </p:nvSpPr>
        <p:spPr/>
        <p:txBody>
          <a:bodyPr/>
          <a:lstStyle/>
          <a:p>
            <a:fld id="{75A1C0E2-2069-A24C-9F14-92D647FFFB5F}" type="datetimeFigureOut">
              <a:rPr lang="en-US" smtClean="0"/>
              <a:t>6/23/26</a:t>
            </a:fld>
            <a:endParaRPr lang="en-US"/>
          </a:p>
        </p:txBody>
      </p:sp>
      <p:sp>
        <p:nvSpPr>
          <p:cNvPr id="5" name="Footer Placeholder 4">
            <a:extLst>
              <a:ext uri="{FF2B5EF4-FFF2-40B4-BE49-F238E27FC236}">
                <a16:creationId xmlns:a16="http://schemas.microsoft.com/office/drawing/2014/main" id="{CEA0E5A2-7CD3-DC81-7736-81F8785EE7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5DE887-3C60-BA55-31EE-D3C2066EAA06}"/>
              </a:ext>
            </a:extLst>
          </p:cNvPr>
          <p:cNvSpPr>
            <a:spLocks noGrp="1"/>
          </p:cNvSpPr>
          <p:nvPr>
            <p:ph type="sldNum" sz="quarter" idx="12"/>
          </p:nvPr>
        </p:nvSpPr>
        <p:spPr/>
        <p:txBody>
          <a:bodyPr/>
          <a:lstStyle/>
          <a:p>
            <a:fld id="{DAAB3BD4-8718-AF43-84BE-78EAA64E6688}" type="slidenum">
              <a:rPr lang="en-US" smtClean="0"/>
              <a:t>‹#›</a:t>
            </a:fld>
            <a:endParaRPr lang="en-US"/>
          </a:p>
        </p:txBody>
      </p:sp>
    </p:spTree>
    <p:extLst>
      <p:ext uri="{BB962C8B-B14F-4D97-AF65-F5344CB8AC3E}">
        <p14:creationId xmlns:p14="http://schemas.microsoft.com/office/powerpoint/2010/main" val="37304578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1D5D7-F938-735A-21E3-607E987E1D3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926D0DC-446F-0F8E-F98F-32E3955582C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ADB2E2-25DA-6741-F7C4-0C300B205406}"/>
              </a:ext>
            </a:extLst>
          </p:cNvPr>
          <p:cNvSpPr>
            <a:spLocks noGrp="1"/>
          </p:cNvSpPr>
          <p:nvPr>
            <p:ph type="dt" sz="half" idx="10"/>
          </p:nvPr>
        </p:nvSpPr>
        <p:spPr/>
        <p:txBody>
          <a:bodyPr/>
          <a:lstStyle/>
          <a:p>
            <a:fld id="{75A1C0E2-2069-A24C-9F14-92D647FFFB5F}" type="datetimeFigureOut">
              <a:rPr lang="en-US" smtClean="0"/>
              <a:t>6/23/26</a:t>
            </a:fld>
            <a:endParaRPr lang="en-US"/>
          </a:p>
        </p:txBody>
      </p:sp>
      <p:sp>
        <p:nvSpPr>
          <p:cNvPr id="5" name="Footer Placeholder 4">
            <a:extLst>
              <a:ext uri="{FF2B5EF4-FFF2-40B4-BE49-F238E27FC236}">
                <a16:creationId xmlns:a16="http://schemas.microsoft.com/office/drawing/2014/main" id="{0404C9F6-A80F-AA28-776A-DCEBBE310D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568731-A87B-D36D-9A22-98D7329DC8CD}"/>
              </a:ext>
            </a:extLst>
          </p:cNvPr>
          <p:cNvSpPr>
            <a:spLocks noGrp="1"/>
          </p:cNvSpPr>
          <p:nvPr>
            <p:ph type="sldNum" sz="quarter" idx="12"/>
          </p:nvPr>
        </p:nvSpPr>
        <p:spPr/>
        <p:txBody>
          <a:bodyPr/>
          <a:lstStyle/>
          <a:p>
            <a:fld id="{DAAB3BD4-8718-AF43-84BE-78EAA64E6688}" type="slidenum">
              <a:rPr lang="en-US" smtClean="0"/>
              <a:t>‹#›</a:t>
            </a:fld>
            <a:endParaRPr lang="en-US"/>
          </a:p>
        </p:txBody>
      </p:sp>
    </p:spTree>
    <p:extLst>
      <p:ext uri="{BB962C8B-B14F-4D97-AF65-F5344CB8AC3E}">
        <p14:creationId xmlns:p14="http://schemas.microsoft.com/office/powerpoint/2010/main" val="15628542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6A1B0-98C3-50F5-7DD4-18EA0225B97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9CC1CFA-5A18-D505-ADFC-056AD265EDA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AFC344B-B639-A515-8CD2-FD0068632AEE}"/>
              </a:ext>
            </a:extLst>
          </p:cNvPr>
          <p:cNvSpPr>
            <a:spLocks noGrp="1"/>
          </p:cNvSpPr>
          <p:nvPr>
            <p:ph type="dt" sz="half" idx="10"/>
          </p:nvPr>
        </p:nvSpPr>
        <p:spPr/>
        <p:txBody>
          <a:bodyPr/>
          <a:lstStyle/>
          <a:p>
            <a:fld id="{75A1C0E2-2069-A24C-9F14-92D647FFFB5F}" type="datetimeFigureOut">
              <a:rPr lang="en-US" smtClean="0"/>
              <a:t>6/23/26</a:t>
            </a:fld>
            <a:endParaRPr lang="en-US"/>
          </a:p>
        </p:txBody>
      </p:sp>
      <p:sp>
        <p:nvSpPr>
          <p:cNvPr id="5" name="Footer Placeholder 4">
            <a:extLst>
              <a:ext uri="{FF2B5EF4-FFF2-40B4-BE49-F238E27FC236}">
                <a16:creationId xmlns:a16="http://schemas.microsoft.com/office/drawing/2014/main" id="{4C3AD68E-ADB6-139E-8612-2D86AE67DB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322B23-C309-558C-B4C5-9D52E42E7149}"/>
              </a:ext>
            </a:extLst>
          </p:cNvPr>
          <p:cNvSpPr>
            <a:spLocks noGrp="1"/>
          </p:cNvSpPr>
          <p:nvPr>
            <p:ph type="sldNum" sz="quarter" idx="12"/>
          </p:nvPr>
        </p:nvSpPr>
        <p:spPr/>
        <p:txBody>
          <a:bodyPr/>
          <a:lstStyle/>
          <a:p>
            <a:fld id="{DAAB3BD4-8718-AF43-84BE-78EAA64E6688}" type="slidenum">
              <a:rPr lang="en-US" smtClean="0"/>
              <a:t>‹#›</a:t>
            </a:fld>
            <a:endParaRPr lang="en-US"/>
          </a:p>
        </p:txBody>
      </p:sp>
    </p:spTree>
    <p:extLst>
      <p:ext uri="{BB962C8B-B14F-4D97-AF65-F5344CB8AC3E}">
        <p14:creationId xmlns:p14="http://schemas.microsoft.com/office/powerpoint/2010/main" val="20495605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D77734-6C1E-ADFB-A0F0-264DCE54FC1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9C94869-F250-9094-D91B-193F106CAA8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9E6445D-87B0-7452-DBA5-DB8CCC00822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A7F4B14-8A2B-2755-60DC-681651F8C08F}"/>
              </a:ext>
            </a:extLst>
          </p:cNvPr>
          <p:cNvSpPr>
            <a:spLocks noGrp="1"/>
          </p:cNvSpPr>
          <p:nvPr>
            <p:ph type="dt" sz="half" idx="10"/>
          </p:nvPr>
        </p:nvSpPr>
        <p:spPr/>
        <p:txBody>
          <a:bodyPr/>
          <a:lstStyle/>
          <a:p>
            <a:fld id="{75A1C0E2-2069-A24C-9F14-92D647FFFB5F}" type="datetimeFigureOut">
              <a:rPr lang="en-US" smtClean="0"/>
              <a:t>6/23/26</a:t>
            </a:fld>
            <a:endParaRPr lang="en-US"/>
          </a:p>
        </p:txBody>
      </p:sp>
      <p:sp>
        <p:nvSpPr>
          <p:cNvPr id="6" name="Footer Placeholder 5">
            <a:extLst>
              <a:ext uri="{FF2B5EF4-FFF2-40B4-BE49-F238E27FC236}">
                <a16:creationId xmlns:a16="http://schemas.microsoft.com/office/drawing/2014/main" id="{FE894D8C-63DD-61F1-B7AA-E2FB275CBDF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BAE2AE1-991F-8117-1EAF-26C04C96315D}"/>
              </a:ext>
            </a:extLst>
          </p:cNvPr>
          <p:cNvSpPr>
            <a:spLocks noGrp="1"/>
          </p:cNvSpPr>
          <p:nvPr>
            <p:ph type="sldNum" sz="quarter" idx="12"/>
          </p:nvPr>
        </p:nvSpPr>
        <p:spPr/>
        <p:txBody>
          <a:bodyPr/>
          <a:lstStyle/>
          <a:p>
            <a:fld id="{DAAB3BD4-8718-AF43-84BE-78EAA64E6688}" type="slidenum">
              <a:rPr lang="en-US" smtClean="0"/>
              <a:t>‹#›</a:t>
            </a:fld>
            <a:endParaRPr lang="en-US"/>
          </a:p>
        </p:txBody>
      </p:sp>
    </p:spTree>
    <p:extLst>
      <p:ext uri="{BB962C8B-B14F-4D97-AF65-F5344CB8AC3E}">
        <p14:creationId xmlns:p14="http://schemas.microsoft.com/office/powerpoint/2010/main" val="15227896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F4D23-CC7B-5B16-CC18-52078783900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578C9EA-3912-F775-4E03-542C6EF29AE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B978021-9C4F-8090-204A-98FE8912A1F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00DB5B0-6DBA-89AC-A03F-978E85A979D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E164691-B089-9350-218D-031546C09D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4BC6593-B513-63AD-E4E0-89D45DA57899}"/>
              </a:ext>
            </a:extLst>
          </p:cNvPr>
          <p:cNvSpPr>
            <a:spLocks noGrp="1"/>
          </p:cNvSpPr>
          <p:nvPr>
            <p:ph type="dt" sz="half" idx="10"/>
          </p:nvPr>
        </p:nvSpPr>
        <p:spPr/>
        <p:txBody>
          <a:bodyPr/>
          <a:lstStyle/>
          <a:p>
            <a:fld id="{75A1C0E2-2069-A24C-9F14-92D647FFFB5F}" type="datetimeFigureOut">
              <a:rPr lang="en-US" smtClean="0"/>
              <a:t>6/23/26</a:t>
            </a:fld>
            <a:endParaRPr lang="en-US"/>
          </a:p>
        </p:txBody>
      </p:sp>
      <p:sp>
        <p:nvSpPr>
          <p:cNvPr id="8" name="Footer Placeholder 7">
            <a:extLst>
              <a:ext uri="{FF2B5EF4-FFF2-40B4-BE49-F238E27FC236}">
                <a16:creationId xmlns:a16="http://schemas.microsoft.com/office/drawing/2014/main" id="{DC0F4042-D246-6870-EDFF-2FE099F6116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630C386-2970-2C6B-D4ED-7473F0504321}"/>
              </a:ext>
            </a:extLst>
          </p:cNvPr>
          <p:cNvSpPr>
            <a:spLocks noGrp="1"/>
          </p:cNvSpPr>
          <p:nvPr>
            <p:ph type="sldNum" sz="quarter" idx="12"/>
          </p:nvPr>
        </p:nvSpPr>
        <p:spPr/>
        <p:txBody>
          <a:bodyPr/>
          <a:lstStyle/>
          <a:p>
            <a:fld id="{DAAB3BD4-8718-AF43-84BE-78EAA64E6688}" type="slidenum">
              <a:rPr lang="en-US" smtClean="0"/>
              <a:t>‹#›</a:t>
            </a:fld>
            <a:endParaRPr lang="en-US"/>
          </a:p>
        </p:txBody>
      </p:sp>
    </p:spTree>
    <p:extLst>
      <p:ext uri="{BB962C8B-B14F-4D97-AF65-F5344CB8AC3E}">
        <p14:creationId xmlns:p14="http://schemas.microsoft.com/office/powerpoint/2010/main" val="1363530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CA13D-5202-F452-6CC5-933BBCF996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DB955CE-6B9E-FDE5-32AC-FFC80F149DAF}"/>
              </a:ext>
            </a:extLst>
          </p:cNvPr>
          <p:cNvSpPr>
            <a:spLocks noGrp="1"/>
          </p:cNvSpPr>
          <p:nvPr>
            <p:ph type="dt" sz="half" idx="10"/>
          </p:nvPr>
        </p:nvSpPr>
        <p:spPr/>
        <p:txBody>
          <a:bodyPr/>
          <a:lstStyle/>
          <a:p>
            <a:fld id="{75A1C0E2-2069-A24C-9F14-92D647FFFB5F}" type="datetimeFigureOut">
              <a:rPr lang="en-US" smtClean="0"/>
              <a:t>6/23/26</a:t>
            </a:fld>
            <a:endParaRPr lang="en-US"/>
          </a:p>
        </p:txBody>
      </p:sp>
      <p:sp>
        <p:nvSpPr>
          <p:cNvPr id="4" name="Footer Placeholder 3">
            <a:extLst>
              <a:ext uri="{FF2B5EF4-FFF2-40B4-BE49-F238E27FC236}">
                <a16:creationId xmlns:a16="http://schemas.microsoft.com/office/drawing/2014/main" id="{19ECAFD7-664F-ED3A-F6FF-9294EB8CA4A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37B752C-4716-5FE1-1FF0-6400CA73E2D9}"/>
              </a:ext>
            </a:extLst>
          </p:cNvPr>
          <p:cNvSpPr>
            <a:spLocks noGrp="1"/>
          </p:cNvSpPr>
          <p:nvPr>
            <p:ph type="sldNum" sz="quarter" idx="12"/>
          </p:nvPr>
        </p:nvSpPr>
        <p:spPr/>
        <p:txBody>
          <a:bodyPr/>
          <a:lstStyle/>
          <a:p>
            <a:fld id="{DAAB3BD4-8718-AF43-84BE-78EAA64E6688}" type="slidenum">
              <a:rPr lang="en-US" smtClean="0"/>
              <a:t>‹#›</a:t>
            </a:fld>
            <a:endParaRPr lang="en-US"/>
          </a:p>
        </p:txBody>
      </p:sp>
    </p:spTree>
    <p:extLst>
      <p:ext uri="{BB962C8B-B14F-4D97-AF65-F5344CB8AC3E}">
        <p14:creationId xmlns:p14="http://schemas.microsoft.com/office/powerpoint/2010/main" val="8351332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E071472-4D65-DF9A-E18B-70A745D29467}"/>
              </a:ext>
            </a:extLst>
          </p:cNvPr>
          <p:cNvSpPr>
            <a:spLocks noGrp="1"/>
          </p:cNvSpPr>
          <p:nvPr>
            <p:ph type="dt" sz="half" idx="10"/>
          </p:nvPr>
        </p:nvSpPr>
        <p:spPr/>
        <p:txBody>
          <a:bodyPr/>
          <a:lstStyle/>
          <a:p>
            <a:fld id="{75A1C0E2-2069-A24C-9F14-92D647FFFB5F}" type="datetimeFigureOut">
              <a:rPr lang="en-US" smtClean="0"/>
              <a:t>6/23/26</a:t>
            </a:fld>
            <a:endParaRPr lang="en-US"/>
          </a:p>
        </p:txBody>
      </p:sp>
      <p:sp>
        <p:nvSpPr>
          <p:cNvPr id="3" name="Footer Placeholder 2">
            <a:extLst>
              <a:ext uri="{FF2B5EF4-FFF2-40B4-BE49-F238E27FC236}">
                <a16:creationId xmlns:a16="http://schemas.microsoft.com/office/drawing/2014/main" id="{3540AC65-74D8-791C-D62D-F5B3D09F420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00C9BA3-B58B-3272-BBE9-4423FF2AE995}"/>
              </a:ext>
            </a:extLst>
          </p:cNvPr>
          <p:cNvSpPr>
            <a:spLocks noGrp="1"/>
          </p:cNvSpPr>
          <p:nvPr>
            <p:ph type="sldNum" sz="quarter" idx="12"/>
          </p:nvPr>
        </p:nvSpPr>
        <p:spPr/>
        <p:txBody>
          <a:bodyPr/>
          <a:lstStyle/>
          <a:p>
            <a:fld id="{DAAB3BD4-8718-AF43-84BE-78EAA64E6688}" type="slidenum">
              <a:rPr lang="en-US" smtClean="0"/>
              <a:t>‹#›</a:t>
            </a:fld>
            <a:endParaRPr lang="en-US"/>
          </a:p>
        </p:txBody>
      </p:sp>
    </p:spTree>
    <p:extLst>
      <p:ext uri="{BB962C8B-B14F-4D97-AF65-F5344CB8AC3E}">
        <p14:creationId xmlns:p14="http://schemas.microsoft.com/office/powerpoint/2010/main" val="26037427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3CE69-AE10-1E99-CD09-DF65D1D99B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A7E0DEE-F2EB-CE2B-3BFD-985A36CC346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23E5A40-6B56-AB44-2A4B-A926CF3C62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52AAE7-53FE-22CB-9837-3463C2009AB3}"/>
              </a:ext>
            </a:extLst>
          </p:cNvPr>
          <p:cNvSpPr>
            <a:spLocks noGrp="1"/>
          </p:cNvSpPr>
          <p:nvPr>
            <p:ph type="dt" sz="half" idx="10"/>
          </p:nvPr>
        </p:nvSpPr>
        <p:spPr/>
        <p:txBody>
          <a:bodyPr/>
          <a:lstStyle/>
          <a:p>
            <a:fld id="{75A1C0E2-2069-A24C-9F14-92D647FFFB5F}" type="datetimeFigureOut">
              <a:rPr lang="en-US" smtClean="0"/>
              <a:t>6/23/26</a:t>
            </a:fld>
            <a:endParaRPr lang="en-US"/>
          </a:p>
        </p:txBody>
      </p:sp>
      <p:sp>
        <p:nvSpPr>
          <p:cNvPr id="6" name="Footer Placeholder 5">
            <a:extLst>
              <a:ext uri="{FF2B5EF4-FFF2-40B4-BE49-F238E27FC236}">
                <a16:creationId xmlns:a16="http://schemas.microsoft.com/office/drawing/2014/main" id="{5A939843-27A5-7C83-326E-DD496C2B92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944EF62-492E-1AF4-CEFB-99AB7E20E800}"/>
              </a:ext>
            </a:extLst>
          </p:cNvPr>
          <p:cNvSpPr>
            <a:spLocks noGrp="1"/>
          </p:cNvSpPr>
          <p:nvPr>
            <p:ph type="sldNum" sz="quarter" idx="12"/>
          </p:nvPr>
        </p:nvSpPr>
        <p:spPr/>
        <p:txBody>
          <a:bodyPr/>
          <a:lstStyle/>
          <a:p>
            <a:fld id="{DAAB3BD4-8718-AF43-84BE-78EAA64E6688}" type="slidenum">
              <a:rPr lang="en-US" smtClean="0"/>
              <a:t>‹#›</a:t>
            </a:fld>
            <a:endParaRPr lang="en-US"/>
          </a:p>
        </p:txBody>
      </p:sp>
    </p:spTree>
    <p:extLst>
      <p:ext uri="{BB962C8B-B14F-4D97-AF65-F5344CB8AC3E}">
        <p14:creationId xmlns:p14="http://schemas.microsoft.com/office/powerpoint/2010/main" val="33634267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B7569-EA32-9FC0-6D2D-D328085D07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DA44249-446D-AA5D-10D2-CBB04402D66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D538D24-1A01-BBE3-D441-B14737C4B1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BE079E-5A2B-4F52-BE28-C4720286B87D}"/>
              </a:ext>
            </a:extLst>
          </p:cNvPr>
          <p:cNvSpPr>
            <a:spLocks noGrp="1"/>
          </p:cNvSpPr>
          <p:nvPr>
            <p:ph type="dt" sz="half" idx="10"/>
          </p:nvPr>
        </p:nvSpPr>
        <p:spPr/>
        <p:txBody>
          <a:bodyPr/>
          <a:lstStyle/>
          <a:p>
            <a:fld id="{75A1C0E2-2069-A24C-9F14-92D647FFFB5F}" type="datetimeFigureOut">
              <a:rPr lang="en-US" smtClean="0"/>
              <a:t>6/23/26</a:t>
            </a:fld>
            <a:endParaRPr lang="en-US"/>
          </a:p>
        </p:txBody>
      </p:sp>
      <p:sp>
        <p:nvSpPr>
          <p:cNvPr id="6" name="Footer Placeholder 5">
            <a:extLst>
              <a:ext uri="{FF2B5EF4-FFF2-40B4-BE49-F238E27FC236}">
                <a16:creationId xmlns:a16="http://schemas.microsoft.com/office/drawing/2014/main" id="{EAFDA9C5-B694-2ADD-A733-A5E998664C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5C4BB1-2021-833E-FED1-103C09575BEF}"/>
              </a:ext>
            </a:extLst>
          </p:cNvPr>
          <p:cNvSpPr>
            <a:spLocks noGrp="1"/>
          </p:cNvSpPr>
          <p:nvPr>
            <p:ph type="sldNum" sz="quarter" idx="12"/>
          </p:nvPr>
        </p:nvSpPr>
        <p:spPr/>
        <p:txBody>
          <a:bodyPr/>
          <a:lstStyle/>
          <a:p>
            <a:fld id="{DAAB3BD4-8718-AF43-84BE-78EAA64E6688}" type="slidenum">
              <a:rPr lang="en-US" smtClean="0"/>
              <a:t>‹#›</a:t>
            </a:fld>
            <a:endParaRPr lang="en-US"/>
          </a:p>
        </p:txBody>
      </p:sp>
    </p:spTree>
    <p:extLst>
      <p:ext uri="{BB962C8B-B14F-4D97-AF65-F5344CB8AC3E}">
        <p14:creationId xmlns:p14="http://schemas.microsoft.com/office/powerpoint/2010/main" val="33398341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46455-59C6-452C-DB6E-F1D7CA26CC8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B19C09F-91A5-15D1-A939-A820CB271DC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2071B4-8E00-C0B8-27CD-5E8CAD25BAE6}"/>
              </a:ext>
            </a:extLst>
          </p:cNvPr>
          <p:cNvSpPr>
            <a:spLocks noGrp="1"/>
          </p:cNvSpPr>
          <p:nvPr>
            <p:ph type="dt" sz="half" idx="10"/>
          </p:nvPr>
        </p:nvSpPr>
        <p:spPr/>
        <p:txBody>
          <a:bodyPr/>
          <a:lstStyle/>
          <a:p>
            <a:fld id="{75A1C0E2-2069-A24C-9F14-92D647FFFB5F}" type="datetimeFigureOut">
              <a:rPr lang="en-US" smtClean="0"/>
              <a:t>6/23/26</a:t>
            </a:fld>
            <a:endParaRPr lang="en-US"/>
          </a:p>
        </p:txBody>
      </p:sp>
      <p:sp>
        <p:nvSpPr>
          <p:cNvPr id="5" name="Footer Placeholder 4">
            <a:extLst>
              <a:ext uri="{FF2B5EF4-FFF2-40B4-BE49-F238E27FC236}">
                <a16:creationId xmlns:a16="http://schemas.microsoft.com/office/drawing/2014/main" id="{8A1BC909-66BD-E146-EE23-478E7A4F16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7A4B8D-990D-979C-9B6B-C1F31FF4EFCF}"/>
              </a:ext>
            </a:extLst>
          </p:cNvPr>
          <p:cNvSpPr>
            <a:spLocks noGrp="1"/>
          </p:cNvSpPr>
          <p:nvPr>
            <p:ph type="sldNum" sz="quarter" idx="12"/>
          </p:nvPr>
        </p:nvSpPr>
        <p:spPr/>
        <p:txBody>
          <a:bodyPr/>
          <a:lstStyle/>
          <a:p>
            <a:fld id="{DAAB3BD4-8718-AF43-84BE-78EAA64E6688}" type="slidenum">
              <a:rPr lang="en-US" smtClean="0"/>
              <a:t>‹#›</a:t>
            </a:fld>
            <a:endParaRPr lang="en-US"/>
          </a:p>
        </p:txBody>
      </p:sp>
    </p:spTree>
    <p:extLst>
      <p:ext uri="{BB962C8B-B14F-4D97-AF65-F5344CB8AC3E}">
        <p14:creationId xmlns:p14="http://schemas.microsoft.com/office/powerpoint/2010/main" val="27235997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A21CB16-8016-FF28-B143-752915DA5F4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88D6FB1-FC55-867F-F9BC-088EC4AFEE0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F161D3-4826-A0CC-DE38-426217A1A17D}"/>
              </a:ext>
            </a:extLst>
          </p:cNvPr>
          <p:cNvSpPr>
            <a:spLocks noGrp="1"/>
          </p:cNvSpPr>
          <p:nvPr>
            <p:ph type="dt" sz="half" idx="10"/>
          </p:nvPr>
        </p:nvSpPr>
        <p:spPr/>
        <p:txBody>
          <a:bodyPr/>
          <a:lstStyle/>
          <a:p>
            <a:fld id="{75A1C0E2-2069-A24C-9F14-92D647FFFB5F}" type="datetimeFigureOut">
              <a:rPr lang="en-US" smtClean="0"/>
              <a:t>6/23/26</a:t>
            </a:fld>
            <a:endParaRPr lang="en-US"/>
          </a:p>
        </p:txBody>
      </p:sp>
      <p:sp>
        <p:nvSpPr>
          <p:cNvPr id="5" name="Footer Placeholder 4">
            <a:extLst>
              <a:ext uri="{FF2B5EF4-FFF2-40B4-BE49-F238E27FC236}">
                <a16:creationId xmlns:a16="http://schemas.microsoft.com/office/drawing/2014/main" id="{7B8A7FF6-4F5C-6BC4-A720-577D5CBB2B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3D2B3B-9027-239B-4439-290CBD7D903C}"/>
              </a:ext>
            </a:extLst>
          </p:cNvPr>
          <p:cNvSpPr>
            <a:spLocks noGrp="1"/>
          </p:cNvSpPr>
          <p:nvPr>
            <p:ph type="sldNum" sz="quarter" idx="12"/>
          </p:nvPr>
        </p:nvSpPr>
        <p:spPr/>
        <p:txBody>
          <a:bodyPr/>
          <a:lstStyle/>
          <a:p>
            <a:fld id="{DAAB3BD4-8718-AF43-84BE-78EAA64E6688}" type="slidenum">
              <a:rPr lang="en-US" smtClean="0"/>
              <a:t>‹#›</a:t>
            </a:fld>
            <a:endParaRPr lang="en-US"/>
          </a:p>
        </p:txBody>
      </p:sp>
    </p:spTree>
    <p:extLst>
      <p:ext uri="{BB962C8B-B14F-4D97-AF65-F5344CB8AC3E}">
        <p14:creationId xmlns:p14="http://schemas.microsoft.com/office/powerpoint/2010/main" val="5514227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2819ABE-D227-FBD8-168D-37E4FEB0D86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09CB739-682F-0658-69D5-250B8005896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823C33-8568-7A82-EFC3-2172159FD92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5A1C0E2-2069-A24C-9F14-92D647FFFB5F}" type="datetimeFigureOut">
              <a:rPr lang="en-US" smtClean="0"/>
              <a:t>6/23/26</a:t>
            </a:fld>
            <a:endParaRPr lang="en-US"/>
          </a:p>
        </p:txBody>
      </p:sp>
      <p:sp>
        <p:nvSpPr>
          <p:cNvPr id="5" name="Footer Placeholder 4">
            <a:extLst>
              <a:ext uri="{FF2B5EF4-FFF2-40B4-BE49-F238E27FC236}">
                <a16:creationId xmlns:a16="http://schemas.microsoft.com/office/drawing/2014/main" id="{BD6C4654-E442-B05E-F3B3-56984B7D8B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1EC8361-12C8-0D58-EA24-98C8C92F646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AAB3BD4-8718-AF43-84BE-78EAA64E6688}" type="slidenum">
              <a:rPr lang="en-US" smtClean="0"/>
              <a:t>‹#›</a:t>
            </a:fld>
            <a:endParaRPr lang="en-US"/>
          </a:p>
        </p:txBody>
      </p:sp>
    </p:spTree>
    <p:extLst>
      <p:ext uri="{BB962C8B-B14F-4D97-AF65-F5344CB8AC3E}">
        <p14:creationId xmlns:p14="http://schemas.microsoft.com/office/powerpoint/2010/main" val="29834353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8" descr="A data visualization project with a white background&#10;&#10;Description automatically generated">
            <a:extLst>
              <a:ext uri="{FF2B5EF4-FFF2-40B4-BE49-F238E27FC236}">
                <a16:creationId xmlns:a16="http://schemas.microsoft.com/office/drawing/2014/main" id="{F9CFF14F-E8E8-FEF7-07F1-8D3C5867D69A}"/>
              </a:ext>
            </a:extLst>
          </p:cNvPr>
          <p:cNvPicPr>
            <a:picLocks noGrp="1" noChangeAspect="1"/>
          </p:cNvPicPr>
          <p:nvPr>
            <p:ph idx="1"/>
          </p:nvPr>
        </p:nvPicPr>
        <p:blipFill>
          <a:blip r:embed="rId2"/>
          <a:stretch>
            <a:fillRect/>
          </a:stretch>
        </p:blipFill>
        <p:spPr>
          <a:xfrm>
            <a:off x="0" y="0"/>
            <a:ext cx="12192000" cy="6862164"/>
          </a:xfrm>
        </p:spPr>
      </p:pic>
    </p:spTree>
    <p:extLst>
      <p:ext uri="{BB962C8B-B14F-4D97-AF65-F5344CB8AC3E}">
        <p14:creationId xmlns:p14="http://schemas.microsoft.com/office/powerpoint/2010/main" val="206870739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3862298-AF85-4572-BED3-52E573EBD4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1C897582-CB19-41B5-9426-8BD7BD0082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471106" cy="4631426"/>
          </a:xfrm>
          <a:custGeom>
            <a:avLst/>
            <a:gdLst>
              <a:gd name="connsiteX0" fmla="*/ 0 w 5471106"/>
              <a:gd name="connsiteY0" fmla="*/ 3301451 h 4631426"/>
              <a:gd name="connsiteX1" fmla="*/ 125703 w 5471106"/>
              <a:gd name="connsiteY1" fmla="*/ 3469551 h 4631426"/>
              <a:gd name="connsiteX2" fmla="*/ 584138 w 5471106"/>
              <a:gd name="connsiteY2" fmla="*/ 3917166 h 4631426"/>
              <a:gd name="connsiteX3" fmla="*/ 716463 w 5471106"/>
              <a:gd name="connsiteY3" fmla="*/ 4010064 h 4631426"/>
              <a:gd name="connsiteX4" fmla="*/ 705202 w 5471106"/>
              <a:gd name="connsiteY4" fmla="*/ 4016176 h 4631426"/>
              <a:gd name="connsiteX5" fmla="*/ 671370 w 5471106"/>
              <a:gd name="connsiteY5" fmla="*/ 4044091 h 4631426"/>
              <a:gd name="connsiteX6" fmla="*/ 656526 w 5471106"/>
              <a:gd name="connsiteY6" fmla="*/ 4066106 h 4631426"/>
              <a:gd name="connsiteX7" fmla="*/ 534490 w 5471106"/>
              <a:gd name="connsiteY7" fmla="*/ 3980431 h 4631426"/>
              <a:gd name="connsiteX8" fmla="*/ 63650 w 5471106"/>
              <a:gd name="connsiteY8" fmla="*/ 3520703 h 4631426"/>
              <a:gd name="connsiteX9" fmla="*/ 0 w 5471106"/>
              <a:gd name="connsiteY9" fmla="*/ 3435586 h 4631426"/>
              <a:gd name="connsiteX10" fmla="*/ 4933182 w 5471106"/>
              <a:gd name="connsiteY10" fmla="*/ 0 h 4631426"/>
              <a:gd name="connsiteX11" fmla="*/ 5027180 w 5471106"/>
              <a:gd name="connsiteY11" fmla="*/ 0 h 4631426"/>
              <a:gd name="connsiteX12" fmla="*/ 5102720 w 5471106"/>
              <a:gd name="connsiteY12" fmla="*/ 124342 h 4631426"/>
              <a:gd name="connsiteX13" fmla="*/ 5471106 w 5471106"/>
              <a:gd name="connsiteY13" fmla="*/ 1579210 h 4631426"/>
              <a:gd name="connsiteX14" fmla="*/ 2418889 w 5471106"/>
              <a:gd name="connsiteY14" fmla="*/ 4631426 h 4631426"/>
              <a:gd name="connsiteX15" fmla="*/ 1095627 w 5471106"/>
              <a:gd name="connsiteY15" fmla="*/ 4330445 h 4631426"/>
              <a:gd name="connsiteX16" fmla="*/ 1039194 w 5471106"/>
              <a:gd name="connsiteY16" fmla="*/ 4301325 h 4631426"/>
              <a:gd name="connsiteX17" fmla="*/ 1043650 w 5471106"/>
              <a:gd name="connsiteY17" fmla="*/ 4294717 h 4631426"/>
              <a:gd name="connsiteX18" fmla="*/ 1056970 w 5471106"/>
              <a:gd name="connsiteY18" fmla="*/ 4251806 h 4631426"/>
              <a:gd name="connsiteX19" fmla="*/ 1060016 w 5471106"/>
              <a:gd name="connsiteY19" fmla="*/ 4221593 h 4631426"/>
              <a:gd name="connsiteX20" fmla="*/ 1130491 w 5471106"/>
              <a:gd name="connsiteY20" fmla="*/ 4257958 h 4631426"/>
              <a:gd name="connsiteX21" fmla="*/ 2418889 w 5471106"/>
              <a:gd name="connsiteY21" fmla="*/ 4551009 h 4631426"/>
              <a:gd name="connsiteX22" fmla="*/ 5390689 w 5471106"/>
              <a:gd name="connsiteY22" fmla="*/ 1579210 h 4631426"/>
              <a:gd name="connsiteX23" fmla="*/ 5032009 w 5471106"/>
              <a:gd name="connsiteY23" fmla="*/ 162673 h 4631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471106" h="4631426">
                <a:moveTo>
                  <a:pt x="0" y="3301451"/>
                </a:moveTo>
                <a:lnTo>
                  <a:pt x="125703" y="3469551"/>
                </a:lnTo>
                <a:cubicBezTo>
                  <a:pt x="261971" y="3634670"/>
                  <a:pt x="415728" y="3784820"/>
                  <a:pt x="584138" y="3917166"/>
                </a:cubicBezTo>
                <a:lnTo>
                  <a:pt x="716463" y="4010064"/>
                </a:lnTo>
                <a:lnTo>
                  <a:pt x="705202" y="4016176"/>
                </a:lnTo>
                <a:cubicBezTo>
                  <a:pt x="693040" y="4024393"/>
                  <a:pt x="681712" y="4033748"/>
                  <a:pt x="671370" y="4044091"/>
                </a:cubicBezTo>
                <a:lnTo>
                  <a:pt x="656526" y="4066106"/>
                </a:lnTo>
                <a:lnTo>
                  <a:pt x="534490" y="3980431"/>
                </a:lnTo>
                <a:cubicBezTo>
                  <a:pt x="361523" y="3844503"/>
                  <a:pt x="203605" y="3690290"/>
                  <a:pt x="63650" y="3520703"/>
                </a:cubicBezTo>
                <a:lnTo>
                  <a:pt x="0" y="3435586"/>
                </a:lnTo>
                <a:close/>
                <a:moveTo>
                  <a:pt x="4933182" y="0"/>
                </a:moveTo>
                <a:lnTo>
                  <a:pt x="5027180" y="0"/>
                </a:lnTo>
                <a:lnTo>
                  <a:pt x="5102720" y="124342"/>
                </a:lnTo>
                <a:cubicBezTo>
                  <a:pt x="5337656" y="556821"/>
                  <a:pt x="5471106" y="1052431"/>
                  <a:pt x="5471106" y="1579210"/>
                </a:cubicBezTo>
                <a:cubicBezTo>
                  <a:pt x="5471106" y="3264903"/>
                  <a:pt x="4104582" y="4631426"/>
                  <a:pt x="2418889" y="4631426"/>
                </a:cubicBezTo>
                <a:cubicBezTo>
                  <a:pt x="1944788" y="4631426"/>
                  <a:pt x="1495934" y="4523332"/>
                  <a:pt x="1095627" y="4330445"/>
                </a:cubicBezTo>
                <a:lnTo>
                  <a:pt x="1039194" y="4301325"/>
                </a:lnTo>
                <a:lnTo>
                  <a:pt x="1043650" y="4294717"/>
                </a:lnTo>
                <a:cubicBezTo>
                  <a:pt x="1049433" y="4281042"/>
                  <a:pt x="1053925" y="4266687"/>
                  <a:pt x="1056970" y="4251806"/>
                </a:cubicBezTo>
                <a:lnTo>
                  <a:pt x="1060016" y="4221593"/>
                </a:lnTo>
                <a:lnTo>
                  <a:pt x="1130491" y="4257958"/>
                </a:lnTo>
                <a:cubicBezTo>
                  <a:pt x="1520251" y="4445763"/>
                  <a:pt x="1957279" y="4551009"/>
                  <a:pt x="2418889" y="4551009"/>
                </a:cubicBezTo>
                <a:cubicBezTo>
                  <a:pt x="4060169" y="4551009"/>
                  <a:pt x="5390689" y="3220490"/>
                  <a:pt x="5390689" y="1579210"/>
                </a:cubicBezTo>
                <a:cubicBezTo>
                  <a:pt x="5390689" y="1066310"/>
                  <a:pt x="5260755" y="583758"/>
                  <a:pt x="5032009" y="162673"/>
                </a:cubicBezTo>
                <a:close/>
              </a:path>
            </a:pathLst>
          </a:custGeom>
          <a:solidFill>
            <a:schemeClr val="tx1">
              <a:lumMod val="50000"/>
              <a:lumOff val="5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Oval 12">
            <a:extLst>
              <a:ext uri="{FF2B5EF4-FFF2-40B4-BE49-F238E27FC236}">
                <a16:creationId xmlns:a16="http://schemas.microsoft.com/office/drawing/2014/main" id="{0E7066FC-B004-4B5A-B02B-599B51EF32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13120" y="515619"/>
            <a:ext cx="365760" cy="365760"/>
          </a:xfrm>
          <a:prstGeom prst="ellipse">
            <a:avLst/>
          </a:prstGeom>
          <a:solidFill>
            <a:schemeClr val="accent6">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Content Placeholder 6">
            <a:extLst>
              <a:ext uri="{FF2B5EF4-FFF2-40B4-BE49-F238E27FC236}">
                <a16:creationId xmlns:a16="http://schemas.microsoft.com/office/drawing/2014/main" id="{259AD141-2D9E-389D-B5BB-B03656A5E76D}"/>
              </a:ext>
            </a:extLst>
          </p:cNvPr>
          <p:cNvGraphicFramePr>
            <a:graphicFrameLocks noGrp="1"/>
          </p:cNvGraphicFramePr>
          <p:nvPr>
            <p:ph idx="1"/>
            <p:extLst>
              <p:ext uri="{D42A27DB-BD31-4B8C-83A1-F6EECF244321}">
                <p14:modId xmlns:p14="http://schemas.microsoft.com/office/powerpoint/2010/main" val="2718985008"/>
              </p:ext>
            </p:extLst>
          </p:nvPr>
        </p:nvGraphicFramePr>
        <p:xfrm>
          <a:off x="5913120" y="1341937"/>
          <a:ext cx="5376447"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TextBox 7">
            <a:extLst>
              <a:ext uri="{FF2B5EF4-FFF2-40B4-BE49-F238E27FC236}">
                <a16:creationId xmlns:a16="http://schemas.microsoft.com/office/drawing/2014/main" id="{A81FE1FB-55E9-EFAB-606E-2B5A62E9F3F3}"/>
              </a:ext>
            </a:extLst>
          </p:cNvPr>
          <p:cNvSpPr txBox="1"/>
          <p:nvPr/>
        </p:nvSpPr>
        <p:spPr>
          <a:xfrm>
            <a:off x="1080655" y="1258784"/>
            <a:ext cx="3277589" cy="584775"/>
          </a:xfrm>
          <a:prstGeom prst="rect">
            <a:avLst/>
          </a:prstGeom>
          <a:noFill/>
        </p:spPr>
        <p:txBody>
          <a:bodyPr wrap="square" rtlCol="0">
            <a:spAutoFit/>
          </a:bodyPr>
          <a:lstStyle/>
          <a:p>
            <a:r>
              <a:rPr lang="en-US" sz="3200" b="1" dirty="0"/>
              <a:t>INTRODUCTION</a:t>
            </a:r>
            <a:endParaRPr lang="en-US" sz="3200" dirty="0"/>
          </a:p>
        </p:txBody>
      </p:sp>
    </p:spTree>
    <p:extLst>
      <p:ext uri="{BB962C8B-B14F-4D97-AF65-F5344CB8AC3E}">
        <p14:creationId xmlns:p14="http://schemas.microsoft.com/office/powerpoint/2010/main" val="132617099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8908DB7-C3A6-4FCB-9820-CEE02B398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81FC3FF-0A30-5278-B457-A9B1A190194C}"/>
              </a:ext>
            </a:extLst>
          </p:cNvPr>
          <p:cNvSpPr>
            <a:spLocks noGrp="1"/>
          </p:cNvSpPr>
          <p:nvPr>
            <p:ph type="title"/>
          </p:nvPr>
        </p:nvSpPr>
        <p:spPr>
          <a:xfrm>
            <a:off x="630936" y="640823"/>
            <a:ext cx="3419856" cy="5583148"/>
          </a:xfrm>
        </p:spPr>
        <p:txBody>
          <a:bodyPr anchor="ctr">
            <a:normAutofit/>
          </a:bodyPr>
          <a:lstStyle/>
          <a:p>
            <a:r>
              <a:rPr lang="en-US" sz="3200" dirty="0"/>
              <a:t>Comparison of Greece with Selected European Countries</a:t>
            </a:r>
          </a:p>
        </p:txBody>
      </p:sp>
      <p:sp>
        <p:nvSpPr>
          <p:cNvPr id="13" name="sketch line">
            <a:extLst>
              <a:ext uri="{FF2B5EF4-FFF2-40B4-BE49-F238E27FC236}">
                <a16:creationId xmlns:a16="http://schemas.microsoft.com/office/drawing/2014/main" id="{535742DD-1B16-4E9D-B715-0D74B4574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267200" y="630936"/>
            <a:ext cx="18288" cy="5590381"/>
          </a:xfrm>
          <a:custGeom>
            <a:avLst/>
            <a:gdLst>
              <a:gd name="connsiteX0" fmla="*/ 0 w 18288"/>
              <a:gd name="connsiteY0" fmla="*/ 0 h 5590381"/>
              <a:gd name="connsiteX1" fmla="*/ 18288 w 18288"/>
              <a:gd name="connsiteY1" fmla="*/ 0 h 5590381"/>
              <a:gd name="connsiteX2" fmla="*/ 18288 w 18288"/>
              <a:gd name="connsiteY2" fmla="*/ 754701 h 5590381"/>
              <a:gd name="connsiteX3" fmla="*/ 18288 w 18288"/>
              <a:gd name="connsiteY3" fmla="*/ 1565307 h 5590381"/>
              <a:gd name="connsiteX4" fmla="*/ 18288 w 18288"/>
              <a:gd name="connsiteY4" fmla="*/ 2152297 h 5590381"/>
              <a:gd name="connsiteX5" fmla="*/ 18288 w 18288"/>
              <a:gd name="connsiteY5" fmla="*/ 2906998 h 5590381"/>
              <a:gd name="connsiteX6" fmla="*/ 18288 w 18288"/>
              <a:gd name="connsiteY6" fmla="*/ 3549892 h 5590381"/>
              <a:gd name="connsiteX7" fmla="*/ 18288 w 18288"/>
              <a:gd name="connsiteY7" fmla="*/ 4080978 h 5590381"/>
              <a:gd name="connsiteX8" fmla="*/ 18288 w 18288"/>
              <a:gd name="connsiteY8" fmla="*/ 4835680 h 5590381"/>
              <a:gd name="connsiteX9" fmla="*/ 18288 w 18288"/>
              <a:gd name="connsiteY9" fmla="*/ 5590381 h 5590381"/>
              <a:gd name="connsiteX10" fmla="*/ 0 w 18288"/>
              <a:gd name="connsiteY10" fmla="*/ 5590381 h 5590381"/>
              <a:gd name="connsiteX11" fmla="*/ 0 w 18288"/>
              <a:gd name="connsiteY11" fmla="*/ 4835680 h 5590381"/>
              <a:gd name="connsiteX12" fmla="*/ 0 w 18288"/>
              <a:gd name="connsiteY12" fmla="*/ 4304593 h 5590381"/>
              <a:gd name="connsiteX13" fmla="*/ 0 w 18288"/>
              <a:gd name="connsiteY13" fmla="*/ 3773507 h 5590381"/>
              <a:gd name="connsiteX14" fmla="*/ 0 w 18288"/>
              <a:gd name="connsiteY14" fmla="*/ 3186517 h 5590381"/>
              <a:gd name="connsiteX15" fmla="*/ 0 w 18288"/>
              <a:gd name="connsiteY15" fmla="*/ 2487720 h 5590381"/>
              <a:gd name="connsiteX16" fmla="*/ 0 w 18288"/>
              <a:gd name="connsiteY16" fmla="*/ 1956633 h 5590381"/>
              <a:gd name="connsiteX17" fmla="*/ 0 w 18288"/>
              <a:gd name="connsiteY17" fmla="*/ 1425547 h 5590381"/>
              <a:gd name="connsiteX18" fmla="*/ 0 w 18288"/>
              <a:gd name="connsiteY18" fmla="*/ 614942 h 5590381"/>
              <a:gd name="connsiteX19" fmla="*/ 0 w 18288"/>
              <a:gd name="connsiteY19" fmla="*/ 0 h 5590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288" h="5590381" fill="none" extrusionOk="0">
                <a:moveTo>
                  <a:pt x="0" y="0"/>
                </a:moveTo>
                <a:cubicBezTo>
                  <a:pt x="7726" y="-435"/>
                  <a:pt x="14198" y="437"/>
                  <a:pt x="18288" y="0"/>
                </a:cubicBezTo>
                <a:cubicBezTo>
                  <a:pt x="-5226" y="225076"/>
                  <a:pt x="46275" y="562283"/>
                  <a:pt x="18288" y="754701"/>
                </a:cubicBezTo>
                <a:cubicBezTo>
                  <a:pt x="-9699" y="947119"/>
                  <a:pt x="30081" y="1239251"/>
                  <a:pt x="18288" y="1565307"/>
                </a:cubicBezTo>
                <a:cubicBezTo>
                  <a:pt x="6495" y="1891363"/>
                  <a:pt x="7160" y="1999140"/>
                  <a:pt x="18288" y="2152297"/>
                </a:cubicBezTo>
                <a:cubicBezTo>
                  <a:pt x="29417" y="2305454"/>
                  <a:pt x="28705" y="2598333"/>
                  <a:pt x="18288" y="2906998"/>
                </a:cubicBezTo>
                <a:cubicBezTo>
                  <a:pt x="7871" y="3215663"/>
                  <a:pt x="35263" y="3327412"/>
                  <a:pt x="18288" y="3549892"/>
                </a:cubicBezTo>
                <a:cubicBezTo>
                  <a:pt x="1313" y="3772372"/>
                  <a:pt x="38561" y="3843836"/>
                  <a:pt x="18288" y="4080978"/>
                </a:cubicBezTo>
                <a:cubicBezTo>
                  <a:pt x="-1985" y="4318120"/>
                  <a:pt x="-3806" y="4511166"/>
                  <a:pt x="18288" y="4835680"/>
                </a:cubicBezTo>
                <a:cubicBezTo>
                  <a:pt x="40382" y="5160194"/>
                  <a:pt x="-13070" y="5401748"/>
                  <a:pt x="18288" y="5590381"/>
                </a:cubicBezTo>
                <a:cubicBezTo>
                  <a:pt x="12010" y="5589863"/>
                  <a:pt x="6799" y="5589982"/>
                  <a:pt x="0" y="5590381"/>
                </a:cubicBezTo>
                <a:cubicBezTo>
                  <a:pt x="-6480" y="5250523"/>
                  <a:pt x="-32148" y="5052531"/>
                  <a:pt x="0" y="4835680"/>
                </a:cubicBezTo>
                <a:cubicBezTo>
                  <a:pt x="32148" y="4618829"/>
                  <a:pt x="5352" y="4496374"/>
                  <a:pt x="0" y="4304593"/>
                </a:cubicBezTo>
                <a:cubicBezTo>
                  <a:pt x="-5352" y="4112812"/>
                  <a:pt x="9645" y="3919423"/>
                  <a:pt x="0" y="3773507"/>
                </a:cubicBezTo>
                <a:cubicBezTo>
                  <a:pt x="-9645" y="3627591"/>
                  <a:pt x="-10654" y="3330687"/>
                  <a:pt x="0" y="3186517"/>
                </a:cubicBezTo>
                <a:cubicBezTo>
                  <a:pt x="10654" y="3042347"/>
                  <a:pt x="18181" y="2635923"/>
                  <a:pt x="0" y="2487720"/>
                </a:cubicBezTo>
                <a:cubicBezTo>
                  <a:pt x="-18181" y="2339517"/>
                  <a:pt x="-7947" y="2113537"/>
                  <a:pt x="0" y="1956633"/>
                </a:cubicBezTo>
                <a:cubicBezTo>
                  <a:pt x="7947" y="1799729"/>
                  <a:pt x="-15145" y="1657735"/>
                  <a:pt x="0" y="1425547"/>
                </a:cubicBezTo>
                <a:cubicBezTo>
                  <a:pt x="15145" y="1193359"/>
                  <a:pt x="-23832" y="948054"/>
                  <a:pt x="0" y="614942"/>
                </a:cubicBezTo>
                <a:cubicBezTo>
                  <a:pt x="23832" y="281831"/>
                  <a:pt x="2816" y="129878"/>
                  <a:pt x="0" y="0"/>
                </a:cubicBezTo>
                <a:close/>
              </a:path>
              <a:path w="18288" h="5590381" stroke="0" extrusionOk="0">
                <a:moveTo>
                  <a:pt x="0" y="0"/>
                </a:moveTo>
                <a:cubicBezTo>
                  <a:pt x="5871" y="848"/>
                  <a:pt x="11713" y="-200"/>
                  <a:pt x="18288" y="0"/>
                </a:cubicBezTo>
                <a:cubicBezTo>
                  <a:pt x="41141" y="165299"/>
                  <a:pt x="3613" y="427555"/>
                  <a:pt x="18288" y="698798"/>
                </a:cubicBezTo>
                <a:cubicBezTo>
                  <a:pt x="32963" y="970041"/>
                  <a:pt x="19680" y="1226199"/>
                  <a:pt x="18288" y="1397595"/>
                </a:cubicBezTo>
                <a:cubicBezTo>
                  <a:pt x="16896" y="1568991"/>
                  <a:pt x="38798" y="1794517"/>
                  <a:pt x="18288" y="2152297"/>
                </a:cubicBezTo>
                <a:cubicBezTo>
                  <a:pt x="-2222" y="2510077"/>
                  <a:pt x="40846" y="2594424"/>
                  <a:pt x="18288" y="2739287"/>
                </a:cubicBezTo>
                <a:cubicBezTo>
                  <a:pt x="-4270" y="2884150"/>
                  <a:pt x="27117" y="3129706"/>
                  <a:pt x="18288" y="3493988"/>
                </a:cubicBezTo>
                <a:cubicBezTo>
                  <a:pt x="9459" y="3858270"/>
                  <a:pt x="54201" y="4041447"/>
                  <a:pt x="18288" y="4304593"/>
                </a:cubicBezTo>
                <a:cubicBezTo>
                  <a:pt x="-17625" y="4567740"/>
                  <a:pt x="49627" y="5149125"/>
                  <a:pt x="18288" y="5590381"/>
                </a:cubicBezTo>
                <a:cubicBezTo>
                  <a:pt x="10860" y="5590744"/>
                  <a:pt x="7568" y="5590157"/>
                  <a:pt x="0" y="5590381"/>
                </a:cubicBezTo>
                <a:cubicBezTo>
                  <a:pt x="36767" y="5266821"/>
                  <a:pt x="-16223" y="5116146"/>
                  <a:pt x="0" y="4835680"/>
                </a:cubicBezTo>
                <a:cubicBezTo>
                  <a:pt x="16223" y="4555214"/>
                  <a:pt x="-16316" y="4356490"/>
                  <a:pt x="0" y="4136882"/>
                </a:cubicBezTo>
                <a:cubicBezTo>
                  <a:pt x="16316" y="3917274"/>
                  <a:pt x="8005" y="3773465"/>
                  <a:pt x="0" y="3549892"/>
                </a:cubicBezTo>
                <a:cubicBezTo>
                  <a:pt x="-8005" y="3326319"/>
                  <a:pt x="27623" y="3052456"/>
                  <a:pt x="0" y="2851094"/>
                </a:cubicBezTo>
                <a:cubicBezTo>
                  <a:pt x="-27623" y="2649732"/>
                  <a:pt x="5614" y="2455815"/>
                  <a:pt x="0" y="2264104"/>
                </a:cubicBezTo>
                <a:cubicBezTo>
                  <a:pt x="-5614" y="2072393"/>
                  <a:pt x="22598" y="1990723"/>
                  <a:pt x="0" y="1733018"/>
                </a:cubicBezTo>
                <a:cubicBezTo>
                  <a:pt x="-22598" y="1475313"/>
                  <a:pt x="-6965" y="1369123"/>
                  <a:pt x="0" y="1090124"/>
                </a:cubicBezTo>
                <a:cubicBezTo>
                  <a:pt x="6965" y="811125"/>
                  <a:pt x="-19273" y="507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3114097614">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graph of different colored lines&#10;&#10;Description automatically generated">
            <a:extLst>
              <a:ext uri="{FF2B5EF4-FFF2-40B4-BE49-F238E27FC236}">
                <a16:creationId xmlns:a16="http://schemas.microsoft.com/office/drawing/2014/main" id="{7048B656-221A-DF56-7585-2FB091B1758F}"/>
              </a:ext>
            </a:extLst>
          </p:cNvPr>
          <p:cNvPicPr>
            <a:picLocks noChangeAspect="1"/>
          </p:cNvPicPr>
          <p:nvPr/>
        </p:nvPicPr>
        <p:blipFill>
          <a:blip r:embed="rId2"/>
          <a:stretch>
            <a:fillRect/>
          </a:stretch>
        </p:blipFill>
        <p:spPr>
          <a:xfrm>
            <a:off x="4654296" y="175092"/>
            <a:ext cx="6894576" cy="3774778"/>
          </a:xfrm>
          <a:prstGeom prst="rect">
            <a:avLst/>
          </a:prstGeom>
        </p:spPr>
      </p:pic>
      <p:sp>
        <p:nvSpPr>
          <p:cNvPr id="8" name="Content Placeholder 7">
            <a:extLst>
              <a:ext uri="{FF2B5EF4-FFF2-40B4-BE49-F238E27FC236}">
                <a16:creationId xmlns:a16="http://schemas.microsoft.com/office/drawing/2014/main" id="{8515AF81-9188-7C2D-14BD-CF239C46BCE7}"/>
              </a:ext>
            </a:extLst>
          </p:cNvPr>
          <p:cNvSpPr>
            <a:spLocks noGrp="1"/>
          </p:cNvSpPr>
          <p:nvPr>
            <p:ph idx="1"/>
          </p:nvPr>
        </p:nvSpPr>
        <p:spPr>
          <a:xfrm>
            <a:off x="4654296" y="4032235"/>
            <a:ext cx="7537704" cy="2733040"/>
          </a:xfrm>
        </p:spPr>
        <p:txBody>
          <a:bodyPr anchor="t">
            <a:normAutofit fontScale="92500" lnSpcReduction="10000"/>
          </a:bodyPr>
          <a:lstStyle/>
          <a:p>
            <a:r>
              <a:rPr lang="en-US" sz="2200" dirty="0"/>
              <a:t>Greece is always included as the reference country.</a:t>
            </a:r>
          </a:p>
          <a:p>
            <a:r>
              <a:rPr lang="en-US" sz="2200" dirty="0"/>
              <a:t>The user can select the crime type from a dropdown menu.</a:t>
            </a:r>
          </a:p>
          <a:p>
            <a:r>
              <a:rPr lang="en-US" sz="2200" dirty="0"/>
              <a:t>The user can choose up to three additional countries for comparison.</a:t>
            </a:r>
          </a:p>
          <a:p>
            <a:r>
              <a:rPr lang="en-US" sz="2200" dirty="0"/>
              <a:t>This avoids a spaghetti plot and keeps the visualization readable.</a:t>
            </a:r>
          </a:p>
          <a:p>
            <a:r>
              <a:rPr lang="en-US" sz="2200" dirty="0"/>
              <a:t>The title updates dynamically based on the selected crime type.</a:t>
            </a:r>
          </a:p>
          <a:p>
            <a:r>
              <a:rPr lang="en-US" sz="2200" dirty="0"/>
              <a:t>Hovering over a line shows the country, crime-type, year, and average crime rate per 100k population.</a:t>
            </a:r>
          </a:p>
          <a:p>
            <a:endParaRPr lang="en-US" sz="2200" dirty="0"/>
          </a:p>
        </p:txBody>
      </p:sp>
    </p:spTree>
    <p:extLst>
      <p:ext uri="{BB962C8B-B14F-4D97-AF65-F5344CB8AC3E}">
        <p14:creationId xmlns:p14="http://schemas.microsoft.com/office/powerpoint/2010/main" val="387998583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0B9EE3F3-89B7-43C3-8651-C4C968309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7DBABB4-4C0E-A693-9BD2-CFA96E0392E3}"/>
              </a:ext>
            </a:extLst>
          </p:cNvPr>
          <p:cNvSpPr>
            <a:spLocks noGrp="1"/>
          </p:cNvSpPr>
          <p:nvPr>
            <p:ph type="title"/>
          </p:nvPr>
        </p:nvSpPr>
        <p:spPr>
          <a:xfrm>
            <a:off x="411480" y="717123"/>
            <a:ext cx="4443154" cy="1362139"/>
          </a:xfrm>
        </p:spPr>
        <p:txBody>
          <a:bodyPr anchor="b">
            <a:noAutofit/>
          </a:bodyPr>
          <a:lstStyle/>
          <a:p>
            <a:r>
              <a:rPr lang="en-US" sz="3200" b="1" dirty="0"/>
              <a:t>Exploring Spatial Variation in European Crime Rates</a:t>
            </a:r>
          </a:p>
        </p:txBody>
      </p:sp>
      <p:sp>
        <p:nvSpPr>
          <p:cNvPr id="16" name="Rectangle 15">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2B67B895-A31A-772B-B16F-7628269825D8}"/>
              </a:ext>
            </a:extLst>
          </p:cNvPr>
          <p:cNvSpPr>
            <a:spLocks noGrp="1"/>
          </p:cNvSpPr>
          <p:nvPr>
            <p:ph idx="1"/>
          </p:nvPr>
        </p:nvSpPr>
        <p:spPr>
          <a:xfrm>
            <a:off x="411480" y="2322117"/>
            <a:ext cx="4443154" cy="3854846"/>
          </a:xfrm>
        </p:spPr>
        <p:txBody>
          <a:bodyPr>
            <a:normAutofit lnSpcReduction="10000"/>
          </a:bodyPr>
          <a:lstStyle/>
          <a:p>
            <a:r>
              <a:rPr lang="en-US" sz="2000" dirty="0"/>
              <a:t>The user can select the crime type and year from dropdown menus.</a:t>
            </a:r>
          </a:p>
          <a:p>
            <a:r>
              <a:rPr lang="en-US" sz="2000" dirty="0"/>
              <a:t>The map updates dynamically based on the selected filters.</a:t>
            </a:r>
          </a:p>
          <a:p>
            <a:r>
              <a:rPr lang="en-US" sz="2000" dirty="0"/>
              <a:t>The title changes according to the selected crime type and year.</a:t>
            </a:r>
          </a:p>
          <a:p>
            <a:r>
              <a:rPr lang="en-US" sz="2000" dirty="0"/>
              <a:t>Darker red indicates a higher crime rate per 100k population.</a:t>
            </a:r>
          </a:p>
          <a:p>
            <a:r>
              <a:rPr lang="en-US" sz="2000" dirty="0"/>
              <a:t>Hovering over a country shows the country name, crime-type, year, and exact crime rate per 100k population.</a:t>
            </a:r>
          </a:p>
        </p:txBody>
      </p:sp>
      <p:pic>
        <p:nvPicPr>
          <p:cNvPr id="5" name="Picture 4" descr="A map of europe with red and white colors&#10;&#10;Description automatically generated">
            <a:extLst>
              <a:ext uri="{FF2B5EF4-FFF2-40B4-BE49-F238E27FC236}">
                <a16:creationId xmlns:a16="http://schemas.microsoft.com/office/drawing/2014/main" id="{02D5F753-A161-26AA-ADE5-7B4A2DBC0AC0}"/>
              </a:ext>
            </a:extLst>
          </p:cNvPr>
          <p:cNvPicPr>
            <a:picLocks noChangeAspect="1"/>
          </p:cNvPicPr>
          <p:nvPr/>
        </p:nvPicPr>
        <p:blipFill>
          <a:blip r:embed="rId2"/>
          <a:stretch>
            <a:fillRect/>
          </a:stretch>
        </p:blipFill>
        <p:spPr>
          <a:xfrm>
            <a:off x="5385816" y="1646308"/>
            <a:ext cx="6440424" cy="3510030"/>
          </a:xfrm>
          <a:prstGeom prst="rect">
            <a:avLst/>
          </a:prstGeom>
        </p:spPr>
      </p:pic>
    </p:spTree>
    <p:extLst>
      <p:ext uri="{BB962C8B-B14F-4D97-AF65-F5344CB8AC3E}">
        <p14:creationId xmlns:p14="http://schemas.microsoft.com/office/powerpoint/2010/main" val="9371997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1ADA7-2C7C-C9C7-7184-FCC7595C2FA4}"/>
              </a:ext>
            </a:extLst>
          </p:cNvPr>
          <p:cNvSpPr>
            <a:spLocks noGrp="1"/>
          </p:cNvSpPr>
          <p:nvPr>
            <p:ph type="title"/>
          </p:nvPr>
        </p:nvSpPr>
        <p:spPr/>
        <p:txBody>
          <a:bodyPr>
            <a:normAutofit/>
          </a:bodyPr>
          <a:lstStyle/>
          <a:p>
            <a:r>
              <a:rPr lang="en-US" sz="3200" b="1" dirty="0"/>
              <a:t>Interactive Capabilities Offered</a:t>
            </a:r>
          </a:p>
        </p:txBody>
      </p:sp>
      <p:sp>
        <p:nvSpPr>
          <p:cNvPr id="3" name="Content Placeholder 2">
            <a:extLst>
              <a:ext uri="{FF2B5EF4-FFF2-40B4-BE49-F238E27FC236}">
                <a16:creationId xmlns:a16="http://schemas.microsoft.com/office/drawing/2014/main" id="{20BB0E51-3AE2-0407-B35A-B33A76C9BF3D}"/>
              </a:ext>
            </a:extLst>
          </p:cNvPr>
          <p:cNvSpPr>
            <a:spLocks noGrp="1"/>
          </p:cNvSpPr>
          <p:nvPr>
            <p:ph idx="1"/>
          </p:nvPr>
        </p:nvSpPr>
        <p:spPr/>
        <p:txBody>
          <a:bodyPr>
            <a:normAutofit/>
          </a:bodyPr>
          <a:lstStyle/>
          <a:p>
            <a:pPr marL="457200" indent="-457200">
              <a:buFont typeface="+mj-lt"/>
              <a:buAutoNum type="arabicPeriod"/>
            </a:pPr>
            <a:r>
              <a:rPr lang="en-US" sz="2000" dirty="0"/>
              <a:t>Dynamic filtering by crime type, year, and country.</a:t>
            </a:r>
          </a:p>
          <a:p>
            <a:pPr marL="457200" indent="-457200">
              <a:buFont typeface="+mj-lt"/>
              <a:buAutoNum type="arabicPeriod"/>
            </a:pPr>
            <a:r>
              <a:rPr lang="en-US" sz="2000" dirty="0"/>
              <a:t>Direct comparison between Greece and selected European countries.</a:t>
            </a:r>
          </a:p>
          <a:p>
            <a:pPr marL="457200" indent="-457200">
              <a:buFont typeface="+mj-lt"/>
              <a:buAutoNum type="arabicPeriod"/>
            </a:pPr>
            <a:r>
              <a:rPr lang="en-US" sz="2000" dirty="0"/>
              <a:t>Clear temporal comparison without overcrowding the chart.</a:t>
            </a:r>
          </a:p>
          <a:p>
            <a:pPr marL="457200" indent="-457200">
              <a:buFont typeface="+mj-lt"/>
              <a:buAutoNum type="arabicPeriod"/>
            </a:pPr>
            <a:r>
              <a:rPr lang="en-US" sz="2000" dirty="0"/>
              <a:t>Spatial exploration of crime rates across Europe.</a:t>
            </a:r>
          </a:p>
          <a:p>
            <a:pPr marL="457200" indent="-457200">
              <a:buFont typeface="+mj-lt"/>
              <a:buAutoNum type="arabicPeriod"/>
            </a:pPr>
            <a:r>
              <a:rPr lang="en-US" sz="2000" dirty="0"/>
              <a:t>Tooltips provide exact values without making the charts visually overloaded.</a:t>
            </a:r>
          </a:p>
          <a:p>
            <a:pPr marL="457200" indent="-457200">
              <a:buFont typeface="+mj-lt"/>
              <a:buAutoNum type="arabicPeriod"/>
            </a:pPr>
            <a:endParaRPr lang="en-US" sz="2000" dirty="0"/>
          </a:p>
          <a:p>
            <a:pPr marL="0" indent="0">
              <a:buNone/>
            </a:pPr>
            <a:r>
              <a:rPr lang="en-US" sz="2000" b="1" dirty="0"/>
              <a:t>Main Conclusions:</a:t>
            </a:r>
          </a:p>
          <a:p>
            <a:pPr marL="0" indent="0">
              <a:buNone/>
            </a:pPr>
            <a:r>
              <a:rPr lang="en-US" sz="2000" dirty="0"/>
              <a:t>The interactive features make the analysis more flexible by allowing users to compare Greece with selected countries, explore spatial crime patterns, and inspect exact crime rates per 100k population through dynamic filters and tooltips.</a:t>
            </a:r>
          </a:p>
        </p:txBody>
      </p:sp>
    </p:spTree>
    <p:extLst>
      <p:ext uri="{BB962C8B-B14F-4D97-AF65-F5344CB8AC3E}">
        <p14:creationId xmlns:p14="http://schemas.microsoft.com/office/powerpoint/2010/main" val="424165354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descr="A white background with black text&#10;&#10;Description automatically generated">
            <a:extLst>
              <a:ext uri="{FF2B5EF4-FFF2-40B4-BE49-F238E27FC236}">
                <a16:creationId xmlns:a16="http://schemas.microsoft.com/office/drawing/2014/main" id="{8F6A92A5-78B0-8392-F340-AEEB8B350F79}"/>
              </a:ext>
            </a:extLst>
          </p:cNvPr>
          <p:cNvPicPr>
            <a:picLocks noGrp="1" noChangeAspect="1"/>
          </p:cNvPicPr>
          <p:nvPr>
            <p:ph idx="1"/>
          </p:nvPr>
        </p:nvPicPr>
        <p:blipFill>
          <a:blip r:embed="rId2"/>
          <a:stretch>
            <a:fillRect/>
          </a:stretch>
        </p:blipFill>
        <p:spPr>
          <a:xfrm>
            <a:off x="0" y="-1"/>
            <a:ext cx="12192000" cy="6865529"/>
          </a:xfrm>
        </p:spPr>
      </p:pic>
    </p:spTree>
    <p:extLst>
      <p:ext uri="{BB962C8B-B14F-4D97-AF65-F5344CB8AC3E}">
        <p14:creationId xmlns:p14="http://schemas.microsoft.com/office/powerpoint/2010/main" val="129532886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1584</TotalTime>
  <Words>297</Words>
  <Application>Microsoft Macintosh PowerPoint</Application>
  <PresentationFormat>Widescreen</PresentationFormat>
  <Paragraphs>26</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Aptos</vt:lpstr>
      <vt:lpstr>Aptos Display</vt:lpstr>
      <vt:lpstr>Arial</vt:lpstr>
      <vt:lpstr>Calibri</vt:lpstr>
      <vt:lpstr>Office Theme</vt:lpstr>
      <vt:lpstr>PowerPoint Presentation</vt:lpstr>
      <vt:lpstr>PowerPoint Presentation</vt:lpstr>
      <vt:lpstr>Comparison of Greece with Selected European Countries</vt:lpstr>
      <vt:lpstr>Exploring Spatial Variation in European Crime Rates</vt:lpstr>
      <vt:lpstr>Interactive Capabilities Offered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Visualization Project</dc:title>
  <dc:creator>GEORGIOS BOUFIS</dc:creator>
  <cp:lastModifiedBy>GEORGIOS BOUFIS</cp:lastModifiedBy>
  <cp:revision>1</cp:revision>
  <dcterms:created xsi:type="dcterms:W3CDTF">2026-06-23T19:36:35Z</dcterms:created>
  <dcterms:modified xsi:type="dcterms:W3CDTF">2026-06-24T22:01:03Z</dcterms:modified>
</cp:coreProperties>
</file>